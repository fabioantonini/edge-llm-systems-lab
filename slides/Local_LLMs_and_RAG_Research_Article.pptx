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this presentation summarizes why local LLM infrastructure matters for research. I will cover privacy, cost, reproducibility, latency, and how RAG combines these dimensions in practical lab workflows.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of the talk: from motivation to implementation trade-offs, then limitations and future directions.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past decade, the dominant paradigm in artificial intelligence research and application has been decidedly cloud-centric. When OpenAI released GPT-3 in 2020, followed by ChatGPT in late 2022, the message was clear: cutting-edge AI capabilities resided exclusively in the cloud, accessible only through API calls to remote servers. This model offered undeniable advantages—instant access to state-of-the-art models, zero infrastructure management, and the ability to scale computational resources on demand. Researchers embraced this convenience. Why maintain expensive GPU clusters when you could simply send HTTP requests to an API endpoint? Why worry about model training and optimization when companies like OpenAI, Anthropic, and Google were investing billions in creating ever-more-capable systems? The cloud API became the default interface to AI capabilities. Yet even as cloud APIs 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past decade, the dominant paradigm in artificial intelligence research and application has been decidedly cloud-centric. When OpenAI released GPT-3 in 2020, followed by ChatGPT in late 2022, the message was clear: cutting-edge AI capabilities resided exclusively in the cloud, accessible only through API calls to remote servers. This model offered undeniable advantages—instant access to state-of-the-art models, zero infrastructure management, and the ability to scale computational resources on demand. Researchers embraced this convenience. Why maintain expensive GPU clusters when you could simply send HTTP requests to an API endpoint? Why worry about model training and optimization when companies like OpenAI, Anthropic, and Google were investing billions in creating ever-more-capable systems? The cloud API became the default interface to AI capabilities.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Yet even as cloud APIs dominated, a parallel revolution was taking shape. In February 2023, Meta released LLaMA (Large Language Model Meta AI), making powerful foundation models available to researchers under open licenses. Unlike previous open models, LLaMA demonstrated that models could be both accessible and competitive with closed commercial offerings. This sparked an explosion of innovation: researchers quantized models to run on consumer hardware, fine-tuned them for specialized domains, and developed increasingly efficient inference engines. By 2024, the landscape had transformed. Models like Mistral, Phi, and Gemma demonstrated that smaller, well-trained models could match or exceed larger predecessors on many tasks. Quantization techniques advanced to the point where 7B parameter models could run efficiently on CPU-only hardware with minimal quality degradation. Inference engin?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article examines the motivations for incorporating local Large Language Models into your research infrastructure through four critical lenses: 1. Privacy and Data Control: When your research involves sensitive data—patient records, confidential corporate information, unpublished research findings—sending that data to third-party cloud services introduces risk, regardless of contractual assurances. Local inference ensures that sensitive information never leaves your controlled environment. 2. Cost and Sustainability: Cloud APIs operate on a pay-per-token model that can become prohibitively expensive at research scale. A single research project might generate millions of tokens; a research group might generate billions. Understanding the economic trade-offs between cloud convenience and local infrastructure investment is crucial for long-term research planning. 3. Research Reproducib?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Privacy in research is not merely a technical concern—it is an ethical imperative, a legal requirement, and increasingly, a competitive advantage. As AI systems become integral to research workflows, the intersection of powerful language models and sensitive data creates novel challenges that traditional security frameworks were not designed to address. Consider the typical research contexts where data sensitivity matters: Medical and Health Research: Patient data governed by HIPAA (Health Insurance Portability and Accountability Act) in the United States, GDPR (General Data Protection Regulation) in Europe, or similar regulations worldwide. Even de-identified patient records may contain sufficient detail that re-identification risks exist. Sending patient narratives, clinical notes, or genomic data to cloud APIs for analysis creates a data breach risk, regardless of API provider assura?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Privacy in research is not merely a technical concern—it is an ethical imperative, a legal requirement, and increasingly, a competitive advantage. As AI systems become integral to research workflows, the intersection of powerful language models and sensitive data creates novel challenges that traditional security frameworks were not designed to address. Consider the typical research contexts where data sensitivity matters: Medical and Health Research: Patient data governed by HIPAA (Health Insurance Portability and Accountability Act) in the United States, GDPR (General Data Protection Regulation) in Europe, or similar regulations worldwide. Even de-identified patient records may contain sufficient detail that re-identification risks exist. Sending patient narratives, clinical notes, or genomic data to cloud APIs for analysis creates a data breach risk, regardless of API provider assura?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call a cloud LLM API, what happens to your data? The answer varies by provider and service tier, but common patterns emerge: Data Transmission: Your prompt travels over the internet to the provider's servers. While HTTPS encryption protects against eavesdropping in transit, the data is necessarily decrypted at the provider's infrastructure for processing. Processing and Storage: The provider processes your prompt through their model infrastructure. Depending on the service tier: - Free/Research Tiers: Data may be retained indefinitely and used to improve models - Paid Tiers: Data may be retained for 30-90 days for abuse monitoring - Enterprise Tiers: Data may not be retained for model training, but logs for debugging and security monitoring often persist Third-Party Access: Privacy policies typically reserve the right to share data with: - Law enforcement in response to valid 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 LLM inference offers a fundamentally different privacy model: data never leaves your controlled environment. This simple architectural fact resolves entire categories of privacy concerns: No Third-Party Data Transmission: When you run ollama generate "sensitive prompt" on your local machine, the data travels from your application to your local Ollama server—typically over localhost, never touching the network. There is no opportunity for transit interception, server-side logging, or third-party access. Complete Processing Control: You control the entire inference stack—the model weights, the execution environment, the memory and storage. No external party can access intermediate states, cache embeddings, or log interactions. Data Residency Compliance: For regulations requiring data remain within specific geographic boundaries or organizational control, local inference provides cer?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 LLM APIs operate on a consumption-based pricing model: you pay per token processed. This seems intuitive and fair—pay only for what you use—but the implications for research-scale workloads are often underestimated until the first bill arrives. Let's ground this discussion in real numbers using 2026 pricing from major providers: OpenAI GPT-4 Turbo (January 2026): - Input: $0.01 per 1K tokens - Output: $0.03 per 1K tokens Anthropic Claude Opus 4.5 (January 2026): - Input: $0.015 per 1K tokens - Output: $0.075 per 1K tokens Anthropic Claude Sonnet 4.5 (January 2026): - Input: $0.003 per 1K tokens - Output: $0.015 per 1K tokens Google Gemini 1.5 Pro (January 2026): - Input: $0.00125 per 1K tokens (up to 128K context) - Output: $0.005 per 1K tokens For context, 1,000 tokens ≈ 750 words of English text. A typical research paper is 6,000-8,000 words ≈ 8,000-10,000 tokens. A detailed pro?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 LLM APIs operate on a consumption-based pricing model: you pay per token processed. This seems intuitive and fair—pay only for what you use—but the implications for research-scale workloads are often underestimated until the first bill arrives. Let's ground this discussion in real numbers using 2026 pricing from major providers: OpenAI GPT-4 Turbo (January 2026): - Input: $0.01 per 1K tokens - Output: $0.03 per 1K tokens Anthropic Claude Opus 4.5 (January 2026): - Input: $0.015 per 1K tokens - Output: $0.075 per 1K tokens Anthropic Claude Sonnet 4.5 (January 2026): - Input: $0.003 per 1K tokens - Output: $0.015 per 1K tokens Google Gemini 1.5 Pro (January 2026): - Input: $0.00125 per 1K tokens (up to 128K context) - Output: $0.005 per 1K tokens For context, 1,000 tokens ≈ 750 words of English text. A typical research paper is 6,000-8,000 words ≈ 8,000-10,000 tokens. A detailed pro?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model a realistic research scenario: Dr. Chen's literature review assistant. She's analyzing 500 recent papers in her field, extracting key findings, methodologies, and relationships between studies. Workload Characteristics: - 500 papers × 8,000 tokens per paper = 4,000,000 input tokens - Each paper generates ~1,000 token summary - Total: 4,000,000 input tokens + 500,000 output tokens Cost with Claude Sonnet 4.5: - Input: 4,000,000 tokens ÷ 1,000 × $0.003 = $12.00 - Output: 500,000 tokens ÷ 1,000 × $0.015 = $7.50 - Total: $19.50 That seems remarkably affordable! But let's extend the scenario: Iteration and Refinement: - Initial pass: $19.50 - Revised prompts (testing different extraction strategies): 3× more → $58.50 - Follow-up queries on each paper (asking specific questions): 500 queries × 200 tokens input × 300 tokens output - Input: 100,000 tokens ÷ 1,000 × $0.003 = $0.30 -?</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 LLM deployment inverts the cost structure: high upfront investment, low marginal costs. Hardware Investment: Option 1: CPU-Only Deployment (Edge LLM Systems Lab approach) - Existing workstation or server (often already available) - Minimum: 16GB RAM, modern CPU (Intel i5/i7 or AMD Ryzen 5/7) - Optimal: 32GB RAM, high-core-count CPU (Ryzen 9, Threadripper, Xeon) - Cost: $0 (existing hardware) to $2,000 (new workstation) Performance: 3B parameter models run acceptably (5-10 tokens/sec), 7B models run slowly (1-3 tokens/sec) Option 2: Consumer GPU - NVIDIA RTX 4070 (12GB VRAM): ~$600 - NVIDIA RTX 4080 (16GB VRAM): ~$1,200 - NVIDIA RTX 4090 (24GB VRAM): ~$1,800 Performance: 7B models fast (50-100 tokens/sec), 13B models acceptable (20-40 tokens/sec), 70B models with quantization (5-15 tokens/sec) Option 3: Professional GPU - NVIDIA RTX 6000 Ada (48GB VRAM): ~$6,800 - NVIDIA A100 (40GB?</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is the cornerstone of scientific research. The principle is simple: given the same methods, data, and procedures, an independent researcher should be able to replicate your findings. Yet across disciplines, we're experiencing a reproducibility crisis—studies in psychology, medicine, and other fields often fail to replicate when attempted by independent teams. AI research faces unique reproducibility challenges. Traditional computational science can specify software versions, random seeds, and computational environments with precision. But when your "method" involves calling an external API whose internals are proprietary and subject to change, reproducibility becomes fundamentally compromised. When you call gpt-4 today, what model are you actually querying? The answer is more complicated than it appears. The Moving Target Problem: Cloud model APIs typically expose models?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is the cornerstone of scientific research. The principle is simple: given the same methods, data, and procedures, an independent researcher should be able to replicate your findings. Yet across disciplines, we're experiencing a reproducibility crisis—studies in psychology, medicine, and other fields often fail to replicate when attempted by independent teams. AI research faces unique reproducibility challenges. Traditional computational science can specify software versions, random seeds, and computational environments with precision. But when your "method" involves calling an external API whose internals are proprietary and subject to change, reproducibility becomes fundamentally compromised.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call gpt-4 today, what model are you actually querying? The answer is more complicated than it appears. The Moving Target Problem: Cloud model APIs typically expose models by name (gpt-4, claude-opus-4-5, gemini-1.5-pro) rather than by precise version. Behind these stable names, providers frequently update the underlying models: - Continuous Training: Models may be retrained on new data, shifting their behavior - Safety Updates: Guardrails and filtering rules change in response to misuse - Performance Optimizations: Quantization, distillation, or architecture changes may alter outputs - Bug Fixes: Corrections to tokenization, sampling, or generation logic affect results OpenAI's GPT-4 provides a concrete example. The model released in March 2023 showed measurably different behavior from GPT-4 in August 2023 across various benchmarks, despite sharing the same API endpoint name.?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 LLMs offer a fundamentally different reproducibility model: model weights are frozen, versioned artifacts. When you download llama3.2:3b from Ollama, you're getting a specific set of weights with a cryptographic hash. These weights are: Immutable: The weights don't change unless you explicitly download a different version Versioned: Models have clear version identifiers (e.g., LLaMA 3.2, Mistral 7B v0.3) Distributable: You can archive the exact weights used in your research Verifiable: Cryptographic hashes ensure you have byte-identical copies Documented: Model cards describe architecture, training data, and limitations Reproducibility in Practice: ```python import requests import hashlib model_name = "llama3.2:3b" response = requests.get("http://localhost:11434/api/show", json={"name": model_name}) model_info = response.json() print(f"Model: {model_info['model']}") print(f"Archit?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Docker and Docker Compose - 16GB RAM minimum - Linux, macOS, or Windows with WSL2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Docker and Docker Compose - 16GB RAM minimum - Linux, macOS, or Windows with WSL2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Load Docker environment: docker load &lt; lab-environment.tar 2. Extract code: tar -xzf research-code.tar.gz 3. Load Ollama model: ollama create llama3.2:3b -f llama3.2-3b.modelfile 4. Run analysis: docker compose up 5. Execute notebooks 01-06 in sequence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Load Docker environment: docker load &lt; lab-environment.tar 2. Extract code: tar -xzf research-code.tar.gz 3. Load Ollama model: ollama create llama3.2:3b -f llama3.2-3b.modelfile 4. Run analysis: docker compose up 5. Execute notebooks 01-06 in sequence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Outputs should match those in experiments/logs/experiments.jsonl - Numerical results should be identical (temperature=0.0) - Qualitative results should be substantively equivalent ``` Comprehensive logging is essential for reproducibility. The lab's JSONL format provides a foundation: ```python import json import time from typing import Dict, Any def log_experiment( model: str, temperature: float, prompt: str, output: str, latency_s: float, metadata: Dict[str, Any] = None ) -&gt; None: """ Log experiment with complete provenance information. Standard fields ensure consistency across experiments. Metadata dict allows flexible extension. """ log_entry = { "ts": time.time(), "model": model, "temperature": temperature, "seed": 42, # Record seed even if not varied "prompt": prompt, "output": output, "prompt_tokens": len(prompt.split()), # Approximate "output_tokens": len(output.split()), "lat?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Comprehensive logging is essential for reproducibility. The lab's JSONL format provides a foundation: ```python import json import time from typing import Dict, Any def log_experiment( model: str, temperature: float, prompt: str, output: str, latency_s: float, metadata: Dict[str, Any] = None ) -&gt; None: """ Log experiment with complete provenance information. Standard fields ensure consistency across experiments. Metadata dict allows flexible extension. """ log_entry = { "ts": time.time(), "model": model, "temperature": temperature, "seed": 42, # Record seed even if not varied "prompt": prompt, "output": output, "prompt_tokens": len(prompt.split()), # Approximate "output_tokens": len(output.split()), "latency_s": latency_s, "ollama_version": "0.1.24", # Query from Ollama if needed "python_version": "3.10.12", "hostname": "research-workstation-01", "metadata": metadata or {} } with open("?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Using local, reproducible LLM infrastructure strengthens your research in peer review: Methodological Rigor: Reviewers can verify your methods section specifies: - Exact model version and weights - Complete inference parameters - Reproducible environment configuration Data Availability: You can commit to making model weights and environment available, satisfying data sharing requirements without privacy concerns (since the model itself is already public). Replication Studies: Other researchers can exactly replicate your LLM-based analyses, enabling: - Verification of your findings - Extension to new datasets - Comparison of different models on your task Longitudinal Validity: Your results remain valid and checkable years after publication, unlike cloud API-based studies where the API may have changed or been deprecated. Example: Comparison of Research Validity | Aspect | Cloud API Study?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checklist when designing studies with local LLMs: Pre-Experiment: - [ ] Select specific model version (not "latest") - [ ] Document model architecture and training details - [ ] Configure deterministic inference (temperature=0.0 or fixed seed) - [ ] Set up Docker environment with pinned dependencies - [ ] Initialize experiment logging system During Experiment: - [ ] Log all prompts, outputs, and parameters to JSONL - [ ] Record timestamps and performance metrics - [ ] Note any model reloads or configuration changes - [ ] Validate determinism (run subset of prompts twice, verify identical outputs) Post-Experiment: - [ ] Archive model weights with cryptographic hash - [ ] Export Docker environment - [ ] Document hardware and system configuration - [ ] Analyze experiment logs for consistency - [ ] Generate reproducibility report For Publication: - [ ] Specify model version precise?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evaluating whether local LLMs can meet your performance needs, you must understand the characteristics of CPU and GPU inference, the impact of model size, and how quantization trades quality for speed. Inference Performance Fundamentals: Language model inference involves two main phases: 1. Prefill Phase: Processing the input prompt through the model's layers - Compute-bound (matrix multiplications dominate) - Parallelizable across tokens in the prompt - Measured in tokens processed per second 2. Decode Phase: Generating output tokens one at a time - Memory-bound (loading weights from VRAM/RAM) - Sequential (each token depends on previous tokens) - Measured in tokens generated per second The decode phase typically dominates inference time for generation tasks (where you're producing substantial output). This is why model inference is often characterized by "tokens per second" (toke?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evaluating whether local LLMs can meet your performance needs, you must understand the characteristics of CPU and GPU inference, the impact of model size, and how quantization trades quality for speed. Inference Performance Fundamentals: Language model inference involves two main phases: 1. Prefill Phase: Processing the input prompt through the model's layers - Compute-bound (matrix multiplications dominate) - Parallelizable across tokens in the prompt - Measured in tokens processed per second 2. Decode Phase: Generating output tokens one at a time - Memory-bound (loading weights from VRAM/RAM) - Sequential (each token depends on previous tokens) - Measured in tokens generated per second The decode phase typically dominates inference time for generation tasks (where you're producing substantial output). This is why model inference is often characterized by "tokens per second" (toke?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size directly affects both capability and performance. Understanding this trade-off is crucial for selecting the right model for your use case. Parameter Count vs. Performance: | Model Size | Parameters | Memory (FP16) | Memory (Q4) | CPU Speed | Quality | ||||-|--|| | Tiny | 1-3B | 2-6 GB | 1-2 GB | 10-20 tok/s | Basic tasks | | Small | 7-8B | 14-16 GB | 4-5 GB | 3-8 tok/s | General purpose | | Medium | 13-15B | 26-30 GB | 7-9 GB | 1-3 tok/s | Strong performance | | Large | 30-34B | 60-68 GB | 15-18 GB | &lt;1 tok/s | Near state-of-art | | Extra Large | 70B+ | 140+ GB | 35+ GB | Impractical CPU | Research-grade | Quantization Explained: Quantization reduces model weight precision to decrease memory usage and increase speed, with a quality trade-off: - FP16 (16-bit floating point): Original precision, full quality, large memory - Q8 (8-bit quantization): Minimal quality loss (~1-2%),?</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measure actual performance for common scenarios. You can run these benchmarks in Notebook 04. Benchmark 1: Short Prompt Latency ```python import requests import time def benchmark_latency(model, prompt, n_runs=5): """ Measure inference latency over multiple runs. Returns mean and standard deviation of latency. """ latencies = [] for _ in range(n_runs): start = time.time() response = requests.post( "http://host.docker.internal:11434/api/generate", json={ "model": model, "prompt": prompt, "temperature": 0.0, "stream": False } ) latency = time.time() - start latencies.append(latency) result = response.json() tokens_generated = len(result['response'].split()) print(f"Run {_+1}: {latency:.2f}s ({tokens_generated} tokens)") mean_latency = sum(latencies) / len(latencies) std_latency = (sum((l - mean_latency)2 for l in latencies) / len(latencies)) 0.5 return { "mean": mean_latency, "std":?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Retrieval-Augmented Generation (RAG) addresses a fundamental limitation of language models: they can only generate based on what they learned during training. A model trained in early 2024 knows nothing about events in late 2025. A model trained on general web text knows nothing about your lab's specific protocols, your organization's internal documents, or your research group's accumulated knowledge. RAG systems solve this by combining two components: 1. Retrieval: Search a knowledge base for information relevant to a query 2. Generation: Use an LLM to synthesize an answer grounded in the retrieved information The RAG Workflow: ``` User Query → Retrieval System → Knowledge Base ↓ Relevant Documents ↓ LLM (with context) → Generated Answer ``` Example: Traditional LLM (No RAG) ```python prompt = "What is the protocol for cell culture passage in our lab?" response = llm_generate(prompt) `?</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Retrieval-Augmented Generation (RAG) addresses a fundamental limitation of language models: they can only generate based on what they learned during training. A model trained in early 2024 knows nothing about events in late 2025. A model trained on general web text knows nothing about your lab's specific protocols, your organization's internal documents, or your research group's accumulated knowledge. RAG systems solve this by combining two components: 1. Retrieval: Search a knowledge base for information relevant to a query 2. Generation: Use an LLM to synthesize an answer grounded in the retrieved information The RAG Workflow: ``` User Query → Retrieval System → Knowledge Base ↓ Relevant Documents ↓ LLM (with context) → Generated Answer ``` Example: Traditional LLM (No RAG) ```python prompt = "What is the protocol for cell culture passage in our lab?" response = llm_generate(prompt) `?</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systems transform how researchers interact with information: 1. Literature Review and Synthesis Manage and query thousands of papers in your domain: ```python papers = load_research_papers("./papers/", format="pdf") for paper in papers: knowledge_base.add_document( text=paper.full_text, metadata={"title": paper.title, "authors": paper.authors, "year": paper.year} ) query = "What methods have been used for protein structure prediction since 2020?" relevant_papers = knowledge_base.search(query, top_k=10) context = "\n\n".join([f"Paper: {p.metadata['title']}\n{p.text}" for p in relevant_papers]) synthesis = llm_generate(f"Context:\n{context}\n\nSynthesize methods for protein structure prediction:") ``` This enables systematic literature review at scale, identifying methodological trends, contradictions, or gaps across large corpora. 2. Lab Protocol and Institutional Knowledge Managemen?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a production-quality RAG system locally involves several components working together. Let's walk through a complete implementation. Component 1: Embedding Model Embeddings convert text into dense vector representations that capture semantic meaning. Similar texts have similar embeddings. ```python from sentence_transformers import SentenceTransformer import numpy as np embedder = SentenceTransformer('all-MiniLM-L6-v2') texts = [ "Cell culture protocol for HeLa cells", "Western blot analysis procedure", "Protocol for cell culture of HeLa cell line" ] embeddings = embedder.encode(texts) print(f"Embedding shape: {embeddings.shape}") # (3, 384) - 384-dimensional vectors from sklearn.metrics.pairwise import cosine_similarity similarities = cosine_similarity(embeddings) print("Similarity matrix:") print(similarities) ``` Popular Embedding Models: | Model | Dimensions | Size | Perform?</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Honesty about limitations is crucial for making informed infrastructure decisions. Local LLMs are powerful tools, but they're not universally optimal. Here are scenarios where cloud APIs or alternative approaches may be superior: 1. Cutting-Edge Capability Requirements If your research demands state-of-the-art performance on complex tasks (advanced reasoning, multilingual understanding, specialized domains), cutting-edge cloud models currently outperform open alternatives: ``` Task: Complex multi-step mathematical reasoning - GPT-4 / Claude Opus 4.5: ~85% accuracy - Best open model (LLaMA 3.1 70B): ~75% accuracy - CPU-viable model (LLaMA 3.2 7B): ~60% accuracy ``` When capability gap matters: - Medical diagnosis assistance (where accuracy is critical) - Advanced coding tasks (generating complex algorithms) - Nuanced language understanding (legal contract analysis) - Cutting-edge researc?</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Honesty about limitations is crucial for making informed infrastructure decisions. Local LLMs are powerful tools, but they're not universally optimal. Here are scenarios where cloud APIs or alternative approaches may be superior: 1. Cutting-Edge Capability Requirements If your research demands state-of-the-art performance on complex tasks (advanced reasoning, multilingual understanding, specialized domains), cutting-edge cloud models currently outperform open alternatives: ``` Task: Complex multi-step mathematical reasoning - GPT-4 / Claude Opus 4.5: ~85% accuracy - Best open model (LLaMA 3.1 70B): ~75% accuracy - CPU-viable model (LLaMA 3.2 7B): ~60% accuracy ``` When capability gap matters: - Medical diagnosis assistance (where accuracy is critical) - Advanced coding tasks (generating complex algorithms) - Nuanced language understanding (legal contract analysis) - Cutting-edge researc?</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optimal approach is often hybrid—combining local and cloud infrastructure strategically: Strategy 1: Tiered by Sensitivity ```python def route_by_sensitivity(query: str, data_classification: str): """Route queries based on data sensitivity.""" if data_classification in ["confidential", "restricted", "PII"]: return local_llm_inference(query) else: return cloud_api_call(query) result = route_by_sensitivity( "Analyze patient symptoms: ...", data_classification="PII" # Routes to local ) ``` Strategy 2: Tiered by Quality Requirements ```python def route_by_quality(task_type: str, query: str): """Use cloud for quality-critical tasks, local for routine work.""" if task_type in ["critical_analysis", "publication_quality", "novel_research"]: return cloud_api_call(query, model="claude-opus-4-5") # Best available else: return local_llm_inference(query) # Good enough routine_summary = route_by_?</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Choosing hardware depends on your specific research needs: | Use Case | Hardware Recommendation | Reasoning | |-|-|--| | Individual researcher, occasional use | Cloud APIs | Cost-effective, zero maintenance | | PhD student, moderate use | Existing workstation (CPU only) | $0 hardware cost, educational value | | Research group, frequent use | Dedicated workstation with GPU (RTX 4080/4090) | Shared resource, cost-effective at scale | | Lab-wide deployment | Server with multiple GPUs or GPU cluster | Supports many concurrent users | | High-throughput batch processing | Multiple CPU servers or cloud burst | Parallel processing, elastic capacity | | Privacy-critical medical research | On-premises secure server (CPU sufficient) | Compliance-driven, cost secondary | | Reproducibility-focused studies | Containerized CPU deployment | Stable, archivable, no GPU availability dependency | Decision?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article provides theoretical foundations and motivation. The lab's notebooks provide hands-on implementation. Here's how they connect: | Article Section | Related Notebooks | Connection | |--|-|| | Introduction | Notebook 01 | Sets context, introduces Ollama | | Privacy &amp; Data Control | Notebooks 01, 03 | Local processing ensures privacy; RAG systems handle sensitive knowledge bases | | Cost &amp; Sustainability | Notebook 04 | Performance benchmarking informs cost decisions; local inference eliminates per-token costs | | Reproducibility | Notebooks 01, 06 | JSONL logging tracks experiments; Docker environment ensures reproducibility | | Performance | Notebook 04 | Hands-on benchmarking quantifies latency and throughput | | RAG Systems | Notebook 03 | Complete implementation of local RAG with ChromaDB and embeddings | | Quantization | Notebook 05 | Analyzes quantization trade-offs expe?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article provides theoretical foundations and motivation. The lab's notebooks provide hands-on implementation. Here's how they connect: | Article Section | Related Notebooks | Connection | |--|-|| | Introduction | Notebook 01 | Sets context, introduces Ollama | | Privacy &amp; Data Control | Notebooks 01, 03 | Local processing ensures privacy; RAG systems handle sensitive knowledge bases | | Cost &amp; Sustainability | Notebook 04 | Performance benchmarking informs cost decisions; local inference eliminates per-token costs | | Reproducibility | Notebooks 01, 06 | JSONL logging tracks experiments; Docker environment ensures reproducibility | | Performance | Notebook 04 | Hands-on benchmarking quantifies latency and throughput | | RAG Systems | Notebook 03 | Complete implementation of local RAG with ChromaDB and embeddings | | Quantization | Notebook 05 | Analyzes quantization trade-offs expe?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maximum learning effectiveness, consider this sequence: Phase 1: Foundations (Week 1) 1. Read Article Sections 1-2 (Introduction, Privacy) 2. Complete Notebook 01 (Local LLM Introduction) 3. Reflect: What privacy considerations apply to YOUR research? Phase 2: Economics and Performance (Week 2) 1. Read Article Sections 3, 5 (Cost, Performance) 2. Complete Notebook 04 (Benchmarking and Profiling) 3. Exercise: Estimate your research group's costs (cloud vs. local) Phase 3: Reproducibility (Week 3) 1. Read Article Section 4 (Reproducibility) 2. Complete Notebook 06 (Research Experiments) 3. Exercise: Design an experiment log schema for your domain Phase 4: RAG Systems (Weeks 4-5) 1. Read Article Section 6 (RAG Systems) 2. Complete Notebook 03 (RAG with Embeddings and ChromaDB) 3. Project: Build a RAG system for a knowledge base relevant to your research Phase 5: Optimization and Trade-?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beyond the notebooks with these research-oriented exercises: Exercise 1: Privacy Impact Assessment Conduct a formal privacy assessment for your research: 1. Identify all data types in your research pipeline 2. Classify by sensitivity (public, confidential, restricted, PII) 3. Map current cloud service usage 4. Identify privacy risks for each service 5. Design local alternative for high-risk services 6. Document in formal Privacy Impact Assessment Deliverable: PIA report with risk mitigation strategies Exercise 2: Cost-Benefit Analysis Prepare a detailed cost analysis for your research group: 1. Survey group members: estimate monthly LLM usage 2. Calculate cloud API costs at current pricing 3. Project growth over 3-5 years 4. Price hardware alternatives (CPU only, consumer GPU, professional GPU) 5. Calculate break-even points 6. Present recommendations to group leader Deliverable: Dec?</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landscape of local AI is evolving rapidly. Several trends will shape the future of local LLMs in research: Trend 1: Smaller, More Capable Models The efficiency frontier is improving dramatically. Models with 1-3B parameters in 2026 match 7B models from 2023 on many tasks. This trend will continue: - Phi family: Microsoft's Phi-3 demonstrates that small models trained on curated, high-quality data can punch above their weight class - Distillation advances: Techniques for distilling capabilities from large models to small ones are improving - Architectural innovations: Mixture-of-experts, efficient attention mechanisms, and other architectural advances increase capability per parameter Implication for Research: CPU-only inference will become increasingly viable for sophisticated tasks. The barrier to entry for local LLM deployment will continue to fall. Trend 2: Domain-Specialized Mod?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landscape of local AI is evolving rapidly. Several trends will shape the future of local LLMs in research: Trend 1: Smaller, More Capable Models The efficiency frontier is improving dramatically. Models with 1-3B parameters in 2026 match 7B models from 2023 on many tasks. This trend will continue: - Phi family: Microsoft's Phi-3 demonstrates that small models trained on curated, high-quality data can punch above their weight class - Distillation advances: Techniques for distilling capabilities from large models to small ones are improving - Architectural innovations: Mixture-of-experts, efficient attention mechanisms, and other architectural advances increase capability per parameter Implication for Research: CPU-only inference will become increasingly viable for sophisticated tasks. The barrier to entry for local LLM deployment will continue to fall. Trend 2: Domain-Specialized Mod?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intersection of local AI and research methodology opens numerous research questions: Research Direction 1: Reproducibility Standards - Question: What standards should apply to LLM-based research for publication? - Study: Develop and validate reproducibility checklist for LLM experiments - Impact: Inform journal policies and review practices Research Direction 2: RAG Quality Metrics - Question: How do we measure RAG system quality beyond accuracy? - Study: Develop metrics for faithfulness, coverage, robustness, fairness - Impact: Enable systematic RAG system evaluation and improvement Research Direction 3: Local Model Benchmarking - Question: How do local models compare to cloud models on domain-specific tasks? - Study: Comprehensive benchmarking across scientific domains - Impact: Guide model selection for researchers Research Direction 4: Privacy-Utility Trade-offs - Question: What?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local AI becomes integral to research, policy and ethical frameworks must evolve: Consideration 1: Data Governance Institutions need clear policies on: - When local processing is required vs. permitted vs. prohibited - Who is responsible for data protection with local infrastructure - Audit and compliance procedures for local AI systems Consideration 2: Algorithmic Transparency Research ethics boards may require: - Disclosure of AI assistance in research - Documentation of model versions and parameters - Assessment of potential biases in AI-generated insights Consideration 3: Intellectual Property Open questions remain: - Who owns outputs generated by local LLMs? - Can AI-assisted analysis be patented? - How should AI contributions be acknowledged in publications? Consideration 4: Equity and Access Local AI risks creating have/have-not divides: - Well-funded institutions can afford i?</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began with four core motivations for incorporating local LLMs into research infrastructure. Let's synthesize what we've learned: Privacy and Data Control: Local inference provides an architectural guarantee that sensitive data never leaves your controlled environment. For research involving confidential information—medical records, proprietary data, unpublished findings—local LLMs eliminate entire classes of privacy risks that cloud APIs cannot address. RAG systems amplify this benefit, enabling AI-powered analysis of sensitive knowledge bases without third-party data transmission. Cost and Sustainability: The economics favor local infrastructure when annual cloud API costs exceed $2,000-3,000. For high-volume research workloads, local deployment pays for itself within 1-2 years and provides cost certainty impossible with usage-based cloud pricing. Beyond direct costs, local inferenc?</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began with four core motivations for incorporating local LLMs into research infrastructure. Let's synthesize what we've learned: Privacy and Data Control: Local inference provides an architectural guarantee that sensitive data never leaves your controlled environment. For research involving confidential information—medical records, proprietary data, unpublished findings—local LLMs eliminate entire classes of privacy risks that cloud APIs cannot address. RAG systems amplify this benefit, enabling AI-powered analysis of sensitive knowledge bases without third-party data transmission. Cost and Sustainability: The economics favor local infrastructure when annual cloud API costs exceed $2,000-3,000. For high-volume research workloads, local deployment pays for itself within 1-2 years and provides cost certainty impossible with usage-based cloud pricing. Beyond direct costs, local inferenc?</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should you invest in local LLM infrastructure? Use this framework: Deploy Local Infrastructure When: - ✅ Processing sensitive/confidential data subject to privacy regulations or policies - ✅ Annual projected cloud API costs exceed $2,000-3,000 - ✅ Research requires exact reproducibility (model versioning critical) - ✅ Workload is continuous or high-volume batch processing - ✅ Building domain-specific RAG systems on private knowledge bases - ✅ Organizational policies restrict cloud service usage Use Cloud APIs When: - ✅ Usage is occasional/low-volume (&lt;$2,000/year) - ✅ Cutting-edge capability is critical (quality over cost/privacy) - ✅ Rapid prototyping requires testing multiple models quickly - ✅ Workload is highly bursty/unpredictable (elastic scaling beneficial) - ✅ No sensitive data involved Hybrid Approach When: - ✅ Research involves both sensitive and non-sensitive workloads -?</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this article and the lab curriculum, here are concrete steps forward: Immediate (This Week): 1. Complete Notebooks 01 and 03 to gain hands-on experience 2. Estimate your current and projected LLM usage patterns 3. Identify any privacy-sensitive use cases in your research Short Term (This Month): 1. Run cost analysis (cloud vs. local) for your research group 2. Benchmark local models on representative tasks from your domain 3. Prototype a simple RAG system on a small knowledge base relevant to your work Medium Term (This Quarter): 1. Design hybrid architecture if appropriate for your needs 2. Build production RAG system for lab protocols or literature 3. Establish experiment logging and reproducibility practices Long Term (This Year): 1. Deploy local infrastructure if justified by analysis 2. Integrate LLM assistance into active research workflows 3. Contribute to reproducibilit?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Academic Papers: On Reproducibility and LLMs: - Narayanan, A. &amp; Kapoor, S. (2023). "GPT-4 and ChatGPT Research: Reproducibility, Source Code, and Prompt Engineering." AI Snake Oil Blog. - Liang, P., et al. (2022). "Holistic Evaluation of Language Models." Transactions on Machine Learning Research. - Dodge, J., et al. (2019). "Show Your Work: Improved Reporting of Experimental Results." EMNLP. On RAG Systems: - Lewis, P., et al. (2020). "Retrieval-Augmented Generation for Knowledge-Intensive NLP Tasks." NeurIPS. [Foundational RAG paper] - Gao, L., et al. (2023). "Precise Zero-Shot Dense Retrieval without Relevance Labels." ACL. - Ram, O., et al. (2023). "In-Context Retrieval-Augmented Language Models." TACL. On Quantization and Efficiency: - Dettmers, T., et al. (2022). "LLM.int8(): 8-bit Matrix Multiplication for Transformers at Scale." NeurIPS. - Frantar, E., et al. (2022). "GPTQ: Accu?</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Academic Papers: On Reproducibility and LLMs: - Narayanan, A. &amp; Kapoor, S. (2023). "GPT-4 and ChatGPT Research: Reproducibility, Source Code, and Prompt Engineering." AI Snake Oil Blog. - Liang, P., et al. (2022). "Holistic Evaluation of Language Models." Transactions on Machine Learning Research. - Dodge, J., et al. (2019). "Show Your Work: Improved Reporting of Experimental Results." EMNLP. On RAG Systems: - Lewis, P., et al. (2020). "Retrieval-Augmented Generation for Knowledge-Intensive NLP Tasks." NeurIPS. [Foundational RAG paper] - Gao, L., et al. (2023). "Precise Zero-Shot Dense Retrieval without Relevance Labels." ACL. - Ram, O., et al. (2023). "In-Context Retrieval-Augmented Language Models." TACL. On Quantization and Efficiency: - Dettmers, T., et al. (2022). "LLM.int8(): 8-bit Matrix Multiplication for Transformers at Scale." NeurIPS. - Frantar, E., et al. (2022). "GPTQ: Accu?</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 Inference Engines: - Ollama (https://ollama.com): Primary tool used in this lab—simple, fast, well-documented - llama.cpp (https://github.com/ggerganov/llama.cpp): Low-level C++ inference, maximum control - vLLM (https://github.com/vllm-project/vllm): High-throughput inference serving, production-scale - Text Generation Inference (https://github.com/huggingface/text-generation-inference): HuggingFace's serving solution - LocalAI (https://github.com/mudler/LocalAI): OpenAI-compatible API for local models Vector Databases: - ChromaDB (https://www.trychroma.com): Used in this lab—embedded, Python-native - Weaviate (https://weaviate.io): Production-scale, GraphQL API - Qdrant (https://qdrant.tech): Fast, written in Rust, good for large-scale - Milvus (https://milvus.io): Distributed, enterprise-grade - Pinecone (https://www.pinecone.io): Cloud-managed (not local, but popular) Embedding?</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Forums and Communities: - Ollama Discord (https://discord.gg/ollama): Active community for Ollama users - LocalLLaMA Reddit (https://www.reddit.com/r/LocalLLaMA/): Community focused on local LLM deployment - HuggingFace Forums (https://discuss.huggingface.co): General NLP and LLM discussions - LangChain Discord (https://discord.gg/langchain): Framework-specific support Blogs and Newsletters: - AI Snake Oil (https://www.aisnakeoil.com): Critical analysis of AI claims, good on reproducibility - Sebastian Raschka's Blog (https://sebastianraschka.com/blog/): LLM technical deep-dives - Eugene Yan (https://eugeneyan.com): ML systems and applied AI - The Batch (DeepLearning.AI): Weekly AI news and trends - Import AI (https://importai.substack.com): Technical AI newsletter Courses and Tutorials: - Fast.ai Practical Deep Learning (https://course.fast.ai): Practical ML education - DeepLearning.AI?</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Vaswani, A., Shazeer, N., Parmar, N., Uszkoreit, J., Jones, L., Gomez, A. N., Kaiser, Ł., &amp; Polosukhin, I. (2017). Attention is All You Need. Advances in Neural Information Processing Systems, 30. 2. Brown, T. B., Mann, B., Ryder, N., Subbiah, M., Kaplan, J., Dhariwal, P., ... &amp; Amodei, D. (2020). Language Models are Few-Shot Learners. Advances in Neural Information Processing Systems, 33, 1877-1901. 3. Lewis, P., Perez, E., Piktus, A., Petroni, F., Karpukhin, V., Goyal, N., ... &amp; Kiela, D. (2020). Retrieval-Augmented Generation for Knowledge-Intensive NLP Tasks. Advances in Neural Information Processing Systems, 33, 9459-9474. 4. Touvron, H., Lavril, T., Izacard, G., Martinet, X., Lachaux, M. A., Lacroix, T., ... &amp; Lample, G. (2023). LLaMA: Open and Efficient Foundation Language Models. arXiv preprint arXiv:2302.13971. 5. Touvron, H., Martin, L., Stone, K., Albert, P., Almahairi, A.?</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Vaswani, A., Shazeer, N., Parmar, N., Uszkoreit, J., Jones, L., Gomez, A. N., Kaiser, Ł., &amp; Polosukhin, I. (2017). Attention is All You Need. Advances in Neural Information Processing Systems, 30. 2. Brown, T. B., Mann, B., Ryder, N., Subbiah, M., Kaplan, J., Dhariwal, P., ... &amp; Amodei, D. (2020). Language Models are Few-Shot Learners. Advances in Neural Information Processing Systems, 33, 1877-1901. 3. Lewis, P., Perez, E., Piktus, A., Petroni, F., Karpukhin, V., Goyal, N., ... &amp; Kiela, D. (2020). Retrieval-Augmented Generation for Knowledge-Intensive NLP Tasks. Advances in Neural Information Processing Systems, 33, 9459-9474.</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Touvron, H., Lavril, T., Izacard, G., Martinet, X., Lachaux, M. A., Lacroix, T., ... &amp; Lample, G. (2023). LLaMA: Open and Efficient Foundation Language Models. arXiv preprint arXiv:2302.13971. 5. Touvron, H., Martin, L., Stone, K., Albert, P., Almahairi, A., Babaei, Y., ... &amp; Scialom, T. (2023). LLaMA 2: Open Foundation and Fine-Tuned Chat Models. arXiv preprint arXiv:2307.09288. 6. Dubey, A., et al. (2024). The LLaMA 3 Herd of Models. arXiv preprint arXiv:2407.21783. 7. Jiang, A. Q., Sablayrolles, A., Mensch, A., Bamford, C., Chaplot, D. S., Casas, D. D. L., ... &amp; Sayed, W. E. (2023). Mistral 7B. arXiv preprint arXiv:2310.06825. 8. Abdin, M., Aneja, J., Awadalla, H., Awadalla, H., Awan, A. A., Bach, N., ... &amp; Zhou, X. (2024). Phi-3 Technical Report: A Highly Capable Language Model Locally on Your Phone. arXiv preprint arXiv:2404.14219.</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Dettmers, T., Lewis, M., Belkada, Y., &amp; Zettlemoyer, L. (2022). LLM.int8(): 8-bit Matrix Multiplication for Transformers at Scale. Advances in Neural Information Processing Systems, 35, 30318-30332. 10. Frantar, E., Ashkboos, S., Hoefler, T., &amp; Alistarh, D. (2022). GPTQ: Accurate Post-Training Quantization for Generative Pre-trained Transformers. arXiv preprint arXiv:2210.17323. 11. Xiao, G., Lin, J., Seznec, M., Wu, H., Demouth, J., &amp; Han, S. (2023). SmoothQuant: Accurate and Efficient Post-Training Quantization for Large Language Models. International Conference on Machine Learning, PMLR, 40241-40267. 12. Dettmers, T., Pagnoni, A., Holtzman, A., &amp; Zettlemoyer, L. (2023). QLoRA: Efficient Finetuning of Quantized LLMs. arXiv preprint arXiv:2305.14314.</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linking these principles to the lab notebooks: deployment, benchmarking, and RAG implementation.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Local LLMs and RAG Systems</a:t>
            </a:r>
          </a:p>
        </p:txBody>
      </p:sp>
      <p:sp>
        <p:nvSpPr>
          <p:cNvPr id="3" name="Subtitle 2"/>
          <p:cNvSpPr>
            <a:spLocks noGrp="1"/>
          </p:cNvSpPr>
          <p:nvPr>
            <p:ph type="subTitle" idx="1"/>
          </p:nvPr>
        </p:nvSpPr>
        <p:spPr/>
        <p:txBody>
          <a:bodyPr/>
          <a:lstStyle/>
          <a:p>
            <a:r>
              <a:t>A Research Perspective</a:t>
            </a:r>
          </a:p>
          <a:p>
            <a:r>
              <a:t>Fabio Antonini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p>
            <a:pPr>
              <a:defRPr sz="2000"/>
            </a:pPr>
            <a:r>
              <a:t>Introduction: The AI Infrastructure Paradigm Shift</a:t>
            </a:r>
          </a:p>
          <a:p>
            <a:pPr>
              <a:defRPr sz="2000"/>
            </a:pPr>
            <a:r>
              <a:t>Privacy and Data Control</a:t>
            </a:r>
          </a:p>
          <a:p>
            <a:pPr>
              <a:defRPr sz="2000"/>
            </a:pPr>
            <a:r>
              <a:t>Cost and Sustainability</a:t>
            </a:r>
          </a:p>
          <a:p>
            <a:pPr>
              <a:defRPr sz="2000"/>
            </a:pPr>
            <a:r>
              <a:t>Research Reproducibility</a:t>
            </a:r>
          </a:p>
          <a:p>
            <a:pPr>
              <a:defRPr sz="2000"/>
            </a:pPr>
            <a:r>
              <a:t>Latency and Performance</a:t>
            </a:r>
          </a:p>
          <a:p>
            <a:pPr>
              <a:defRPr sz="2000"/>
            </a:pPr>
            <a:r>
              <a:t>RAG Systems: Bringing It All Together</a:t>
            </a:r>
          </a:p>
          <a:p>
            <a:pPr>
              <a:defRPr sz="2000"/>
            </a:pPr>
            <a:r>
              <a:t>Practical Considerations and Limitations</a:t>
            </a:r>
          </a:p>
          <a:p>
            <a:pPr>
              <a:defRPr sz="2000"/>
            </a:pPr>
            <a:r>
              <a:t>Integration with Lab Curriculum</a:t>
            </a:r>
          </a:p>
          <a:p>
            <a:pPr>
              <a:defRPr sz="2000"/>
            </a:pPr>
            <a:r>
              <a:t>The Future of Local AI in Research</a:t>
            </a:r>
          </a:p>
          <a:p>
            <a:pPr>
              <a:defRPr sz="2000"/>
            </a:pPr>
            <a:r>
              <a:t>Conclusion and Key Takeaways</a:t>
            </a:r>
          </a:p>
          <a:p>
            <a:pPr>
              <a:defRPr sz="2000"/>
            </a:pPr>
            <a:r>
              <a:t>Additional Resources</a:t>
            </a:r>
          </a:p>
          <a:p>
            <a:pPr>
              <a:defRPr sz="2000"/>
            </a:pPr>
            <a:r>
              <a:t>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Introduction: The AI Infrastructure Paradigm Shift</a:t>
            </a:r>
          </a:p>
        </p:txBody>
      </p:sp>
      <p:sp>
        <p:nvSpPr>
          <p:cNvPr id="3" name="Content Placeholder 2"/>
          <p:cNvSpPr>
            <a:spLocks noGrp="1"/>
          </p:cNvSpPr>
          <p:nvPr>
            <p:ph idx="1"/>
          </p:nvPr>
        </p:nvSpPr>
        <p:spPr/>
        <p:txBody>
          <a:bodyPr/>
          <a:lstStyle/>
          <a:p>
            <a:pPr>
              <a:defRPr sz="2000"/>
            </a:pPr>
            <a:r>
              <a:t>### The Cloud-First Era</a:t>
            </a:r>
          </a:p>
          <a:p>
            <a:pPr>
              <a:defRPr sz="2000"/>
            </a:pPr>
            <a:r>
              <a:t>For the past decade, the dominant paradigm in artificial intelligence research and application has been decidedly cloud-centric.</a:t>
            </a:r>
          </a:p>
          <a:p>
            <a:pPr>
              <a:defRPr sz="2000"/>
            </a:pPr>
            <a:r>
              <a:t>Researchers embraced this convenience.</a:t>
            </a:r>
          </a:p>
          <a:p>
            <a:pPr>
              <a:defRPr sz="2000"/>
            </a:pPr>
            <a:r>
              <a:t>### The Emergence of a Hybrid Approach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Cloud-First Era</a:t>
            </a:r>
          </a:p>
        </p:txBody>
      </p:sp>
      <p:sp>
        <p:nvSpPr>
          <p:cNvPr id="3" name="Content Placeholder 2"/>
          <p:cNvSpPr>
            <a:spLocks noGrp="1"/>
          </p:cNvSpPr>
          <p:nvPr>
            <p:ph idx="1"/>
          </p:nvPr>
        </p:nvSpPr>
        <p:spPr/>
        <p:txBody>
          <a:bodyPr/>
          <a:lstStyle/>
          <a:p>
            <a:pPr>
              <a:defRPr sz="1800"/>
            </a:pPr>
            <a:r>
              <a:t>For the past decade, the dominant paradigm in artificial intelligence research and application has been decidedly cloud-centric.</a:t>
            </a:r>
          </a:p>
          <a:p>
            <a:pPr>
              <a:defRPr sz="1800"/>
            </a:pPr>
            <a:r>
              <a:t>Researchers embraced this convenience.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Emergence of a Hybrid Approach</a:t>
            </a:r>
          </a:p>
        </p:txBody>
      </p:sp>
      <p:sp>
        <p:nvSpPr>
          <p:cNvPr id="3" name="Content Placeholder 2"/>
          <p:cNvSpPr>
            <a:spLocks noGrp="1"/>
          </p:cNvSpPr>
          <p:nvPr>
            <p:ph idx="1"/>
          </p:nvPr>
        </p:nvSpPr>
        <p:spPr/>
        <p:txBody>
          <a:bodyPr/>
          <a:lstStyle/>
          <a:p>
            <a:pPr>
              <a:defRPr sz="1800"/>
            </a:pPr>
            <a:r>
              <a:t>Yet even as cloud APIs dominated, a parallel revolution was taking shape.</a:t>
            </a:r>
          </a:p>
          <a:p>
            <a:pPr>
              <a:defRPr sz="1800"/>
            </a:pPr>
            <a:r>
              <a:t>By 2024, the landscape had transformed.</a:t>
            </a:r>
          </a:p>
          <a:p>
            <a:pPr>
              <a:defRPr sz="1800"/>
            </a:pPr>
            <a:r>
              <a:t>Today, we find ourselves at an inflection point.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 Pillars of Local LLM Motivation</a:t>
            </a:r>
          </a:p>
        </p:txBody>
      </p:sp>
      <p:sp>
        <p:nvSpPr>
          <p:cNvPr id="3" name="Content Placeholder 2"/>
          <p:cNvSpPr>
            <a:spLocks noGrp="1"/>
          </p:cNvSpPr>
          <p:nvPr>
            <p:ph idx="1"/>
          </p:nvPr>
        </p:nvSpPr>
        <p:spPr/>
        <p:txBody>
          <a:bodyPr/>
          <a:lstStyle/>
          <a:p>
            <a:pPr>
              <a:defRPr sz="1800"/>
            </a:pPr>
            <a:r>
              <a:t>This article examines the motivations for incorporating local Large Language Models into your research infrastructure through four critical?</a:t>
            </a:r>
          </a:p>
          <a:p>
            <a:pPr>
              <a:defRPr sz="1800"/>
            </a:pPr>
            <a:r>
              <a:t>Privacy and Data Control: When your research involves sensitive data—patient records, confidential corporate information, unpublished resea?</a:t>
            </a:r>
          </a:p>
          <a:p>
            <a:pPr>
              <a:defRPr sz="1800"/>
            </a:pPr>
            <a:r>
              <a:t>Cost and Sustainability: Cloud APIs operate on a pay-per-token model that can become prohibitively expensive at research scale.</a:t>
            </a:r>
          </a:p>
          <a:p>
            <a:pPr>
              <a:defRPr sz="1800"/>
            </a:pPr>
            <a:r>
              <a:t>Research Reproducibility: Cloud model APIs are moving targets.</a:t>
            </a:r>
          </a:p>
          <a:p>
            <a:pPr>
              <a:defRPr sz="1800"/>
            </a:pPr>
            <a:r>
              <a:t>Latency and Performance: For certain research applications—real-time interactive systems, high-throughput batch processing, edge deployment?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Privacy and Data Control</a:t>
            </a:r>
          </a:p>
        </p:txBody>
      </p:sp>
      <p:sp>
        <p:nvSpPr>
          <p:cNvPr id="3" name="Content Placeholder 2"/>
          <p:cNvSpPr>
            <a:spLocks noGrp="1"/>
          </p:cNvSpPr>
          <p:nvPr>
            <p:ph idx="1"/>
          </p:nvPr>
        </p:nvSpPr>
        <p:spPr/>
        <p:txBody>
          <a:bodyPr/>
          <a:lstStyle/>
          <a:p>
            <a:pPr>
              <a:defRPr sz="2000"/>
            </a:pPr>
            <a:r>
              <a:t>### The Privacy Landscape in Research</a:t>
            </a:r>
          </a:p>
          <a:p>
            <a:pPr>
              <a:defRPr sz="2000"/>
            </a:pPr>
            <a:r>
              <a:t>Privacy in research is not merely a technical concern—it is an ethical imperative, a legal requirement, and increasingly, a competitive adv?</a:t>
            </a:r>
          </a:p>
          <a:p>
            <a:pPr>
              <a:defRPr sz="2000"/>
            </a:pPr>
            <a:r>
              <a:t>Consider the typical research contexts where data sensitivity matters:</a:t>
            </a:r>
          </a:p>
          <a:p>
            <a:pPr>
              <a:defRPr sz="2000"/>
            </a:pPr>
            <a:r>
              <a:t>Medical and Health Research: Patient data governed by HIPAA (Health Insurance Portability and Accountability Act) in the United States, GDP?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Privacy Landscape in Research</a:t>
            </a:r>
          </a:p>
        </p:txBody>
      </p:sp>
      <p:sp>
        <p:nvSpPr>
          <p:cNvPr id="3" name="Content Placeholder 2"/>
          <p:cNvSpPr>
            <a:spLocks noGrp="1"/>
          </p:cNvSpPr>
          <p:nvPr>
            <p:ph idx="1"/>
          </p:nvPr>
        </p:nvSpPr>
        <p:spPr/>
        <p:txBody>
          <a:bodyPr/>
          <a:lstStyle/>
          <a:p>
            <a:pPr>
              <a:defRPr sz="1800"/>
            </a:pPr>
            <a:r>
              <a:t>Privacy in research is not merely a technical concern—it is an ethical imperative, a legal requirement, and increasingly, a competitive adv?</a:t>
            </a:r>
          </a:p>
          <a:p>
            <a:pPr>
              <a:defRPr sz="1800"/>
            </a:pPr>
            <a:r>
              <a:t>Consider the typical research contexts where data sensitivity matters:</a:t>
            </a:r>
          </a:p>
          <a:p>
            <a:pPr>
              <a:defRPr sz="1800"/>
            </a:pPr>
            <a:r>
              <a:t>Medical and Health Research: Patient data governed by HIPAA (Health Insurance Portability and Accountability Act) in the United States, GDP?</a:t>
            </a:r>
          </a:p>
          <a:p>
            <a:pPr>
              <a:defRPr sz="1800"/>
            </a:pPr>
            <a:r>
              <a:t>Legal and Compliance: Law firms and legal researchers working with confidential case files, attorney-client privileged communications, or u?</a:t>
            </a:r>
          </a:p>
          <a:p>
            <a:pPr>
              <a:defRPr sz="1800"/>
            </a:pPr>
            <a:r>
              <a:t>Corporate Partnerships: Academic-industry collaborations often involve confidential business information, unreleased product specifications?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Cloud API Privacy: What Are You Actually Agreeing To?</a:t>
            </a:r>
          </a:p>
        </p:txBody>
      </p:sp>
      <p:sp>
        <p:nvSpPr>
          <p:cNvPr id="3" name="Content Placeholder 2"/>
          <p:cNvSpPr>
            <a:spLocks noGrp="1"/>
          </p:cNvSpPr>
          <p:nvPr>
            <p:ph idx="1"/>
          </p:nvPr>
        </p:nvSpPr>
        <p:spPr/>
        <p:txBody>
          <a:bodyPr/>
          <a:lstStyle/>
          <a:p>
            <a:pPr>
              <a:defRPr sz="1800"/>
            </a:pPr>
            <a:r>
              <a:t>When you call a cloud LLM API, what happens to your data?</a:t>
            </a:r>
          </a:p>
          <a:p>
            <a:pPr>
              <a:defRPr sz="1800"/>
            </a:pPr>
            <a:r>
              <a:t>Data Transmission: Your prompt travels over the internet to the provider's servers.</a:t>
            </a:r>
          </a:p>
          <a:p>
            <a:pPr>
              <a:defRPr sz="1800"/>
            </a:pPr>
            <a:r>
              <a:t>Processing and Storage: The provider processes your prompt through their model infrastructure.</a:t>
            </a:r>
          </a:p>
          <a:p>
            <a:pPr>
              <a:defRPr sz="1800"/>
            </a:pPr>
            <a:r>
              <a:t>Free/Research Tiers: Data may be retained indefinitely and used to improve models</a:t>
            </a:r>
          </a:p>
          <a:p>
            <a:pPr>
              <a:defRPr sz="1800"/>
            </a:pPr>
            <a:r>
              <a:t>Paid Tiers: Data may be retained for 30-90 days for abuse monitoring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Local Inference as Privacy Insurance</a:t>
            </a:r>
          </a:p>
        </p:txBody>
      </p:sp>
      <p:sp>
        <p:nvSpPr>
          <p:cNvPr id="3" name="Content Placeholder 2"/>
          <p:cNvSpPr>
            <a:spLocks noGrp="1"/>
          </p:cNvSpPr>
          <p:nvPr>
            <p:ph idx="1"/>
          </p:nvPr>
        </p:nvSpPr>
        <p:spPr/>
        <p:txBody>
          <a:bodyPr/>
          <a:lstStyle/>
          <a:p>
            <a:pPr>
              <a:defRPr sz="1800"/>
            </a:pPr>
            <a:r>
              <a:t>Local LLM inference offers a fundamentally different privacy model: data never leaves your controlled environment.</a:t>
            </a:r>
          </a:p>
          <a:p>
            <a:pPr>
              <a:defRPr sz="1800"/>
            </a:pPr>
            <a:r>
              <a:t>No Third-Party Data Transmission: When you run ollama generate "sensitive prompt" on your local machine, the data travels from your applica?</a:t>
            </a:r>
          </a:p>
          <a:p>
            <a:pPr>
              <a:defRPr sz="1800"/>
            </a:pPr>
            <a:r>
              <a:t>Complete Processing Control: You control the entire inference stack—the model weights, the execution environment, the memory and storage.</a:t>
            </a:r>
          </a:p>
          <a:p>
            <a:pPr>
              <a:defRPr sz="1800"/>
            </a:pPr>
            <a:r>
              <a:t>Data Residency Compliance: For regulations requiring data remain within specific geographic boundaries or organizational control, local inf?</a:t>
            </a:r>
          </a:p>
          <a:p>
            <a:pPr>
              <a:defRPr sz="1800"/>
            </a:pPr>
            <a:r>
              <a:t>Audit and Verification: You can audit exactly what happens during inference.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Cost and Sustainability</a:t>
            </a:r>
          </a:p>
        </p:txBody>
      </p:sp>
      <p:sp>
        <p:nvSpPr>
          <p:cNvPr id="3" name="Content Placeholder 2"/>
          <p:cNvSpPr>
            <a:spLocks noGrp="1"/>
          </p:cNvSpPr>
          <p:nvPr>
            <p:ph idx="1"/>
          </p:nvPr>
        </p:nvSpPr>
        <p:spPr/>
        <p:txBody>
          <a:bodyPr/>
          <a:lstStyle/>
          <a:p>
            <a:pPr>
              <a:defRPr sz="2000"/>
            </a:pPr>
            <a:r>
              <a:t>### The Economics of Cloud LLM APIs</a:t>
            </a:r>
          </a:p>
          <a:p>
            <a:pPr>
              <a:defRPr sz="2000"/>
            </a:pPr>
            <a:r>
              <a:t>Cloud LLM APIs operate on a consumption-based pricing model: you pay per token processed.</a:t>
            </a:r>
          </a:p>
          <a:p>
            <a:pPr>
              <a:defRPr sz="2000"/>
            </a:pPr>
            <a:r>
              <a:t>Let's ground this discussion in real numbers using 2026 pricing from major providers:</a:t>
            </a:r>
          </a:p>
          <a:p>
            <a:pPr>
              <a:defRPr sz="2000"/>
            </a:pPr>
            <a:r>
              <a:t>OpenAI GPT-4 Turbo (January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Economics of Cloud LLM APIs</a:t>
            </a:r>
          </a:p>
        </p:txBody>
      </p:sp>
      <p:sp>
        <p:nvSpPr>
          <p:cNvPr id="3" name="Content Placeholder 2"/>
          <p:cNvSpPr>
            <a:spLocks noGrp="1"/>
          </p:cNvSpPr>
          <p:nvPr>
            <p:ph idx="1"/>
          </p:nvPr>
        </p:nvSpPr>
        <p:spPr/>
        <p:txBody>
          <a:bodyPr/>
          <a:lstStyle/>
          <a:p>
            <a:pPr>
              <a:defRPr sz="1800"/>
            </a:pPr>
            <a:r>
              <a:t>Cloud LLM APIs operate on a consumption-based pricing model: you pay per token processed.</a:t>
            </a:r>
          </a:p>
          <a:p>
            <a:pPr>
              <a:defRPr sz="1800"/>
            </a:pPr>
            <a:r>
              <a:t>Let's ground this discussion in real numbers using 2026 pricing from major providers:</a:t>
            </a:r>
          </a:p>
          <a:p>
            <a:pPr>
              <a:defRPr sz="1800"/>
            </a:pPr>
            <a:r>
              <a:t>OpenAI GPT-4 Turbo (January 2026):</a:t>
            </a:r>
          </a:p>
          <a:p>
            <a:pPr>
              <a:defRPr sz="1800"/>
            </a:pPr>
            <a:r>
              <a:t>Input: $0.01 per 1K tokens</a:t>
            </a:r>
          </a:p>
          <a:p>
            <a:pPr>
              <a:defRPr sz="1800"/>
            </a:pPr>
            <a:r>
              <a:t>Output: $0.03 per 1K tokens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Real Cost Analysis: A Research Project Scenario</a:t>
            </a:r>
          </a:p>
        </p:txBody>
      </p:sp>
      <p:sp>
        <p:nvSpPr>
          <p:cNvPr id="3" name="Content Placeholder 2"/>
          <p:cNvSpPr>
            <a:spLocks noGrp="1"/>
          </p:cNvSpPr>
          <p:nvPr>
            <p:ph idx="1"/>
          </p:nvPr>
        </p:nvSpPr>
        <p:spPr/>
        <p:txBody>
          <a:bodyPr/>
          <a:lstStyle/>
          <a:p>
            <a:pPr>
              <a:defRPr sz="1800"/>
            </a:pPr>
            <a:r>
              <a:t>Let's model a realistic research scenario: Dr.</a:t>
            </a:r>
          </a:p>
          <a:p>
            <a:pPr>
              <a:defRPr sz="1800"/>
            </a:pPr>
            <a:r>
              <a:t>Workload Characteristics:</a:t>
            </a:r>
          </a:p>
          <a:p>
            <a:pPr>
              <a:defRPr sz="1800"/>
            </a:pPr>
            <a:r>
              <a:t>500 papers × 8,000 tokens per paper = 4,000,000 input tokens</a:t>
            </a:r>
          </a:p>
          <a:p>
            <a:pPr>
              <a:defRPr sz="1800"/>
            </a:pPr>
            <a:r>
              <a:t>Each paper generates ~1,000 token summary</a:t>
            </a:r>
          </a:p>
          <a:p>
            <a:pPr>
              <a:defRPr sz="1800"/>
            </a:pPr>
            <a:r>
              <a:t>Total: 4,000,000 input tokens + 500,000 output tokens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Local LLM Costs: Upfront vs. Operational</a:t>
            </a:r>
          </a:p>
        </p:txBody>
      </p:sp>
      <p:sp>
        <p:nvSpPr>
          <p:cNvPr id="3" name="Content Placeholder 2"/>
          <p:cNvSpPr>
            <a:spLocks noGrp="1"/>
          </p:cNvSpPr>
          <p:nvPr>
            <p:ph idx="1"/>
          </p:nvPr>
        </p:nvSpPr>
        <p:spPr/>
        <p:txBody>
          <a:bodyPr/>
          <a:lstStyle/>
          <a:p>
            <a:pPr>
              <a:defRPr sz="1800"/>
            </a:pPr>
            <a:r>
              <a:t>Local LLM deployment inverts the cost structure: high upfront investment, low marginal costs.</a:t>
            </a:r>
          </a:p>
          <a:p>
            <a:pPr>
              <a:defRPr sz="1800"/>
            </a:pPr>
            <a:r>
              <a:t>Hardware Investment:</a:t>
            </a:r>
          </a:p>
          <a:p>
            <a:pPr>
              <a:defRPr sz="1800"/>
            </a:pPr>
            <a:r>
              <a:t>Option 1: CPU-Only Deployment (Edge LLM Systems Lab approach)</a:t>
            </a:r>
          </a:p>
          <a:p>
            <a:pPr>
              <a:defRPr sz="1800"/>
            </a:pPr>
            <a:r>
              <a:t>Existing workstation or server (often already available)</a:t>
            </a:r>
          </a:p>
          <a:p>
            <a:pPr>
              <a:defRPr sz="1800"/>
            </a:pPr>
            <a:r>
              <a:t>Minimum: 16GB RAM, modern CPU (Intel i5/i7 or AMD Ryzen 5/7)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Research Reproducibility</a:t>
            </a:r>
          </a:p>
        </p:txBody>
      </p:sp>
      <p:sp>
        <p:nvSpPr>
          <p:cNvPr id="3" name="Content Placeholder 2"/>
          <p:cNvSpPr>
            <a:spLocks noGrp="1"/>
          </p:cNvSpPr>
          <p:nvPr>
            <p:ph idx="1"/>
          </p:nvPr>
        </p:nvSpPr>
        <p:spPr/>
        <p:txBody>
          <a:bodyPr/>
          <a:lstStyle/>
          <a:p>
            <a:pPr>
              <a:defRPr sz="2000"/>
            </a:pPr>
            <a:r>
              <a:t>### The Reproducibility Crisis Meets AI</a:t>
            </a:r>
          </a:p>
          <a:p>
            <a:pPr>
              <a:defRPr sz="2000"/>
            </a:pPr>
            <a:r>
              <a:t>Reproducibility is the cornerstone of scientific research.</a:t>
            </a:r>
          </a:p>
          <a:p>
            <a:pPr>
              <a:defRPr sz="2000"/>
            </a:pPr>
            <a:r>
              <a:t>AI research faces unique reproducibility challenges.</a:t>
            </a:r>
          </a:p>
          <a:p>
            <a:pPr>
              <a:defRPr sz="2000"/>
            </a:pPr>
            <a:r>
              <a:t>### Model Versioning Instability in Cloud APIs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Reproducibility Crisis Meets AI</a:t>
            </a:r>
          </a:p>
        </p:txBody>
      </p:sp>
      <p:sp>
        <p:nvSpPr>
          <p:cNvPr id="3" name="Content Placeholder 2"/>
          <p:cNvSpPr>
            <a:spLocks noGrp="1"/>
          </p:cNvSpPr>
          <p:nvPr>
            <p:ph idx="1"/>
          </p:nvPr>
        </p:nvSpPr>
        <p:spPr/>
        <p:txBody>
          <a:bodyPr/>
          <a:lstStyle/>
          <a:p>
            <a:pPr>
              <a:defRPr sz="1800"/>
            </a:pPr>
            <a:r>
              <a:t>Reproducibility is the cornerstone of scientific research.</a:t>
            </a:r>
          </a:p>
          <a:p>
            <a:pPr>
              <a:defRPr sz="1800"/>
            </a:pPr>
            <a:r>
              <a:t>AI research faces unique reproducibility challenges.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Versioning Instability in Cloud APIs</a:t>
            </a:r>
          </a:p>
        </p:txBody>
      </p:sp>
      <p:sp>
        <p:nvSpPr>
          <p:cNvPr id="3" name="Content Placeholder 2"/>
          <p:cNvSpPr>
            <a:spLocks noGrp="1"/>
          </p:cNvSpPr>
          <p:nvPr>
            <p:ph idx="1"/>
          </p:nvPr>
        </p:nvSpPr>
        <p:spPr/>
        <p:txBody>
          <a:bodyPr/>
          <a:lstStyle/>
          <a:p>
            <a:pPr>
              <a:defRPr sz="1800"/>
            </a:pPr>
            <a:r>
              <a:t>When you call gpt-4 today, what model are you actually querying?</a:t>
            </a:r>
          </a:p>
          <a:p>
            <a:pPr>
              <a:defRPr sz="1800"/>
            </a:pPr>
            <a:r>
              <a:t>The Moving Target Problem:</a:t>
            </a:r>
          </a:p>
          <a:p>
            <a:pPr>
              <a:defRPr sz="1800"/>
            </a:pPr>
            <a:r>
              <a:t>Cloud model APIs typically expose models by name (gpt-4, claude-opus-4-5, gemini-1.5-pro) rather than by precise version.</a:t>
            </a:r>
          </a:p>
          <a:p>
            <a:pPr>
              <a:defRPr sz="1800"/>
            </a:pPr>
            <a:r>
              <a:t>Continuous Training: Models may be retrained on new data, shifting their behavior</a:t>
            </a:r>
          </a:p>
          <a:p>
            <a:pPr>
              <a:defRPr sz="1800"/>
            </a:pPr>
            <a:r>
              <a:t>Safety Updates: Guardrails and filtering rules change in response to misuse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Open Models as Reproducible Artifacts</a:t>
            </a:r>
          </a:p>
        </p:txBody>
      </p:sp>
      <p:sp>
        <p:nvSpPr>
          <p:cNvPr id="3" name="Content Placeholder 2"/>
          <p:cNvSpPr>
            <a:spLocks noGrp="1"/>
          </p:cNvSpPr>
          <p:nvPr>
            <p:ph idx="1"/>
          </p:nvPr>
        </p:nvSpPr>
        <p:spPr/>
        <p:txBody>
          <a:bodyPr/>
          <a:lstStyle/>
          <a:p>
            <a:pPr>
              <a:defRPr sz="1800"/>
            </a:pPr>
            <a:r>
              <a:t>Local LLMs offer a fundamentally different reproducibility model: model weights are frozen, versioned artifacts.</a:t>
            </a:r>
          </a:p>
          <a:p>
            <a:pPr>
              <a:defRPr sz="1800"/>
            </a:pPr>
            <a:r>
              <a:t>When you download llama3.2:3b from Ollama, you're getting a specific set of weights with a cryptographic hash.</a:t>
            </a:r>
          </a:p>
          <a:p>
            <a:pPr>
              <a:defRPr sz="1800"/>
            </a:pPr>
            <a:r>
              <a:t>Immutable: The weights don't change unless you explicitly download a different version</a:t>
            </a:r>
          </a:p>
          <a:p>
            <a:pPr>
              <a:defRPr sz="1800"/>
            </a:pPr>
            <a:r>
              <a:t>Versioned: Models have clear version identifiers (e.g., LLaMA 3.2, Mistral 7B v0.3)</a:t>
            </a:r>
          </a:p>
          <a:p>
            <a:pPr>
              <a:defRPr sz="1800"/>
            </a:pPr>
            <a:r>
              <a:t>Distributable: You can archive the exact weights used in your research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Prerequisites</a:t>
            </a:r>
          </a:p>
        </p:txBody>
      </p:sp>
      <p:sp>
        <p:nvSpPr>
          <p:cNvPr id="3" name="Content Placeholder 2"/>
          <p:cNvSpPr>
            <a:spLocks noGrp="1"/>
          </p:cNvSpPr>
          <p:nvPr>
            <p:ph idx="1"/>
          </p:nvPr>
        </p:nvSpPr>
        <p:spPr/>
        <p:txBody>
          <a:bodyPr/>
          <a:lstStyle/>
          <a:p>
            <a:pPr>
              <a:defRPr sz="2000"/>
            </a:pPr>
            <a:r>
              <a:t>Docker and Docker Compose</a:t>
            </a:r>
          </a:p>
          <a:p>
            <a:pPr>
              <a:defRPr sz="2000"/>
            </a:pPr>
            <a:r>
              <a:t>16GB RAM minimum</a:t>
            </a:r>
          </a:p>
          <a:p>
            <a:pPr>
              <a:defRPr sz="2000"/>
            </a:pPr>
            <a:r>
              <a:t>Linux, macOS, or Windows with WSL2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Prerequisites</a:t>
            </a:r>
          </a:p>
        </p:txBody>
      </p:sp>
      <p:sp>
        <p:nvSpPr>
          <p:cNvPr id="3" name="Content Placeholder 2"/>
          <p:cNvSpPr>
            <a:spLocks noGrp="1"/>
          </p:cNvSpPr>
          <p:nvPr>
            <p:ph idx="1"/>
          </p:nvPr>
        </p:nvSpPr>
        <p:spPr/>
        <p:txBody>
          <a:bodyPr/>
          <a:lstStyle/>
          <a:p>
            <a:pPr>
              <a:defRPr sz="1800"/>
            </a:pPr>
            <a:r>
              <a:t>Docker and Docker Compose</a:t>
            </a:r>
          </a:p>
          <a:p>
            <a:pPr>
              <a:defRPr sz="1800"/>
            </a:pPr>
            <a:r>
              <a:t>16GB RAM minimum</a:t>
            </a:r>
          </a:p>
          <a:p>
            <a:pPr>
              <a:defRPr sz="1800"/>
            </a:pPr>
            <a:r>
              <a:t>Linux, macOS, or Windows with WSL2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Steps</a:t>
            </a:r>
          </a:p>
        </p:txBody>
      </p:sp>
      <p:sp>
        <p:nvSpPr>
          <p:cNvPr id="3" name="Content Placeholder 2"/>
          <p:cNvSpPr>
            <a:spLocks noGrp="1"/>
          </p:cNvSpPr>
          <p:nvPr>
            <p:ph idx="1"/>
          </p:nvPr>
        </p:nvSpPr>
        <p:spPr/>
        <p:txBody>
          <a:bodyPr/>
          <a:lstStyle/>
          <a:p>
            <a:pPr>
              <a:defRPr sz="2000"/>
            </a:pPr>
            <a:r>
              <a:t>Load Docker environment: docker load &lt; lab-environment.tar</a:t>
            </a:r>
          </a:p>
          <a:p>
            <a:pPr>
              <a:defRPr sz="2000"/>
            </a:pPr>
            <a:r>
              <a:t>Extract code: tar -xzf research-code.tar.gz</a:t>
            </a:r>
          </a:p>
          <a:p>
            <a:pPr>
              <a:defRPr sz="2000"/>
            </a:pPr>
            <a:r>
              <a:t>Load Ollama model: ollama create llama3.2:3b -f llama3.2-3b.modelfile</a:t>
            </a:r>
          </a:p>
          <a:p>
            <a:pPr>
              <a:defRPr sz="2000"/>
            </a:pPr>
            <a:r>
              <a:t>Run analysis: docker compose up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Steps</a:t>
            </a:r>
          </a:p>
        </p:txBody>
      </p:sp>
      <p:sp>
        <p:nvSpPr>
          <p:cNvPr id="3" name="Content Placeholder 2"/>
          <p:cNvSpPr>
            <a:spLocks noGrp="1"/>
          </p:cNvSpPr>
          <p:nvPr>
            <p:ph idx="1"/>
          </p:nvPr>
        </p:nvSpPr>
        <p:spPr/>
        <p:txBody>
          <a:bodyPr/>
          <a:lstStyle/>
          <a:p>
            <a:pPr>
              <a:defRPr sz="1800"/>
            </a:pPr>
            <a:r>
              <a:t>Load Docker environment: docker load &lt; lab-environment.tar</a:t>
            </a:r>
          </a:p>
          <a:p>
            <a:pPr>
              <a:defRPr sz="1800"/>
            </a:pPr>
            <a:r>
              <a:t>Extract code: tar -xzf research-code.tar.gz</a:t>
            </a:r>
          </a:p>
          <a:p>
            <a:pPr>
              <a:defRPr sz="1800"/>
            </a:pPr>
            <a:r>
              <a:t>Load Ollama model: ollama create llama3.2:3b -f llama3.2-3b.modelfile</a:t>
            </a:r>
          </a:p>
          <a:p>
            <a:pPr>
              <a:defRPr sz="1800"/>
            </a:pPr>
            <a:r>
              <a:t>Run analysis: docker compose up</a:t>
            </a:r>
          </a:p>
          <a:p>
            <a:pPr>
              <a:defRPr sz="1800"/>
            </a:pPr>
            <a:r>
              <a:t>Execute notebooks 01-06 in sequence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Expected Results</a:t>
            </a:r>
          </a:p>
        </p:txBody>
      </p:sp>
      <p:sp>
        <p:nvSpPr>
          <p:cNvPr id="3" name="Content Placeholder 2"/>
          <p:cNvSpPr>
            <a:spLocks noGrp="1"/>
          </p:cNvSpPr>
          <p:nvPr>
            <p:ph idx="1"/>
          </p:nvPr>
        </p:nvSpPr>
        <p:spPr/>
        <p:txBody>
          <a:bodyPr/>
          <a:lstStyle/>
          <a:p>
            <a:pPr>
              <a:defRPr sz="2000"/>
            </a:pPr>
            <a:r>
              <a:t>Outputs should match those in experiments/logs/experiments.jsonl</a:t>
            </a:r>
          </a:p>
          <a:p>
            <a:pPr>
              <a:defRPr sz="2000"/>
            </a:pPr>
            <a:r>
              <a:t>Numerical results should be identical (temperature=0.0)</a:t>
            </a:r>
          </a:p>
          <a:p>
            <a:pPr>
              <a:defRPr sz="2000"/>
            </a:pPr>
            <a:r>
              <a:t>Qualitative results should be substantively equivalent</a:t>
            </a:r>
          </a:p>
          <a:p>
            <a:pPr>
              <a:defRPr sz="2000"/>
            </a:pPr>
            <a:r>
              <a:t>### Experiment Logging and Provenance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Experiment Logging and Provenance</a:t>
            </a:r>
          </a:p>
        </p:txBody>
      </p:sp>
      <p:sp>
        <p:nvSpPr>
          <p:cNvPr id="3" name="Content Placeholder 2"/>
          <p:cNvSpPr>
            <a:spLocks noGrp="1"/>
          </p:cNvSpPr>
          <p:nvPr>
            <p:ph idx="1"/>
          </p:nvPr>
        </p:nvSpPr>
        <p:spPr/>
        <p:txBody>
          <a:bodyPr/>
          <a:lstStyle/>
          <a:p>
            <a:pPr>
              <a:defRPr sz="1800"/>
            </a:pPr>
            <a:r>
              <a:t>Comprehensive logging is essential for reproducibility.</a:t>
            </a:r>
          </a:p>
          <a:p>
            <a:pPr>
              <a:defRPr sz="1800"/>
            </a:pPr>
            <a:r>
              <a:t>from typing import Dict, Any</a:t>
            </a:r>
          </a:p>
          <a:p>
            <a:pPr>
              <a:defRPr sz="1800"/>
            </a:pPr>
            <a:r>
              <a:t>metadata: Dict[str, Any] = None</a:t>
            </a:r>
          </a:p>
          <a:p>
            <a:pPr>
              <a:defRPr sz="1800"/>
            </a:pPr>
            <a:r>
              <a:t>Log experiment with complete provenance information.</a:t>
            </a:r>
          </a:p>
          <a:p>
            <a:pPr>
              <a:defRPr sz="1800"/>
            </a:pPr>
            <a:r>
              <a:t>Standard fields ensure consistency across experiments.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Publication and Peer Review Implications</a:t>
            </a:r>
          </a:p>
        </p:txBody>
      </p:sp>
      <p:sp>
        <p:nvSpPr>
          <p:cNvPr id="3" name="Content Placeholder 2"/>
          <p:cNvSpPr>
            <a:spLocks noGrp="1"/>
          </p:cNvSpPr>
          <p:nvPr>
            <p:ph idx="1"/>
          </p:nvPr>
        </p:nvSpPr>
        <p:spPr/>
        <p:txBody>
          <a:bodyPr/>
          <a:lstStyle/>
          <a:p>
            <a:pPr>
              <a:defRPr sz="1800"/>
            </a:pPr>
            <a:r>
              <a:t>Using local, reproducible LLM infrastructure strengthens your research in peer review:</a:t>
            </a:r>
          </a:p>
          <a:p>
            <a:pPr>
              <a:defRPr sz="1800"/>
            </a:pPr>
            <a:r>
              <a:t>Methodological Rigor:</a:t>
            </a:r>
          </a:p>
          <a:p>
            <a:pPr>
              <a:defRPr sz="1800"/>
            </a:pPr>
            <a:r>
              <a:t>Reviewers can verify your methods section specifies:</a:t>
            </a:r>
          </a:p>
          <a:p>
            <a:pPr>
              <a:defRPr sz="1800"/>
            </a:pPr>
            <a:r>
              <a:t>Exact model version and weights</a:t>
            </a:r>
          </a:p>
          <a:p>
            <a:pPr>
              <a:defRPr sz="1800"/>
            </a:pPr>
            <a:r>
              <a:t>Complete inference parameters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Reproducibility Checklist for LLM Research</a:t>
            </a:r>
          </a:p>
        </p:txBody>
      </p:sp>
      <p:sp>
        <p:nvSpPr>
          <p:cNvPr id="3" name="Content Placeholder 2"/>
          <p:cNvSpPr>
            <a:spLocks noGrp="1"/>
          </p:cNvSpPr>
          <p:nvPr>
            <p:ph idx="1"/>
          </p:nvPr>
        </p:nvSpPr>
        <p:spPr/>
        <p:txBody>
          <a:bodyPr/>
          <a:lstStyle/>
          <a:p>
            <a:pPr>
              <a:defRPr sz="1800"/>
            </a:pPr>
            <a:r>
              <a:t>Use this checklist when designing studies with local LLMs:</a:t>
            </a:r>
          </a:p>
          <a:p>
            <a:pPr>
              <a:defRPr sz="1800"/>
            </a:pPr>
            <a:r>
              <a:t>[ ] Select specific model version (not "latest")</a:t>
            </a:r>
          </a:p>
          <a:p>
            <a:pPr>
              <a:defRPr sz="1800"/>
            </a:pPr>
            <a:r>
              <a:t>[ ] Document model architecture and training details</a:t>
            </a:r>
          </a:p>
          <a:p>
            <a:pPr>
              <a:defRPr sz="1800"/>
            </a:pPr>
            <a:r>
              <a:t>[ ] Configure deterministic inference (temperature=0.0 or fixed seed)</a:t>
            </a:r>
          </a:p>
          <a:p>
            <a:pPr>
              <a:defRPr sz="1800"/>
            </a:pPr>
            <a:r>
              <a:t>[ ] Set up Docker environment with pinned dependencies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Latency and Performance</a:t>
            </a:r>
          </a:p>
        </p:txBody>
      </p:sp>
      <p:sp>
        <p:nvSpPr>
          <p:cNvPr id="3" name="Content Placeholder 2"/>
          <p:cNvSpPr>
            <a:spLocks noGrp="1"/>
          </p:cNvSpPr>
          <p:nvPr>
            <p:ph idx="1"/>
          </p:nvPr>
        </p:nvSpPr>
        <p:spPr/>
        <p:txBody>
          <a:bodyPr/>
          <a:lstStyle/>
          <a:p>
            <a:pPr>
              <a:defRPr sz="2000"/>
            </a:pPr>
            <a:r>
              <a:t>### Understanding Local Inference Performance</a:t>
            </a:r>
          </a:p>
          <a:p>
            <a:pPr>
              <a:defRPr sz="2000"/>
            </a:pPr>
            <a:r>
              <a:t>When evaluating whether local LLMs can meet your performance needs, you must understand the characteristics of CPU and GPU inference, the i?</a:t>
            </a:r>
          </a:p>
          <a:p>
            <a:pPr>
              <a:defRPr sz="2000"/>
            </a:pPr>
            <a:r>
              <a:t>Inference Performance Fundamentals:</a:t>
            </a:r>
          </a:p>
          <a:p>
            <a:pPr>
              <a:defRPr sz="2000"/>
            </a:pPr>
            <a:r>
              <a:t>Language model inference involves two main phases: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Understanding Local Inference Performance</a:t>
            </a:r>
          </a:p>
        </p:txBody>
      </p:sp>
      <p:sp>
        <p:nvSpPr>
          <p:cNvPr id="3" name="Content Placeholder 2"/>
          <p:cNvSpPr>
            <a:spLocks noGrp="1"/>
          </p:cNvSpPr>
          <p:nvPr>
            <p:ph idx="1"/>
          </p:nvPr>
        </p:nvSpPr>
        <p:spPr/>
        <p:txBody>
          <a:bodyPr/>
          <a:lstStyle/>
          <a:p>
            <a:pPr>
              <a:defRPr sz="1800"/>
            </a:pPr>
            <a:r>
              <a:t>When evaluating whether local LLMs can meet your performance needs, you must understand the characteristics of CPU and GPU inference, the i?</a:t>
            </a:r>
          </a:p>
          <a:p>
            <a:pPr>
              <a:defRPr sz="1800"/>
            </a:pPr>
            <a:r>
              <a:t>Inference Performance Fundamentals:</a:t>
            </a:r>
          </a:p>
          <a:p>
            <a:pPr>
              <a:defRPr sz="1800"/>
            </a:pPr>
            <a:r>
              <a:t>Language model inference involves two main phases:</a:t>
            </a:r>
          </a:p>
          <a:p>
            <a:pPr>
              <a:defRPr sz="1800"/>
            </a:pPr>
            <a:r>
              <a:t>Prefill Phase: Processing the input prompt through the model's layers</a:t>
            </a:r>
          </a:p>
          <a:p>
            <a:pPr>
              <a:defRPr sz="1800"/>
            </a:pPr>
            <a:r>
              <a:t>Compute-bound (matrix multiplications dominate)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Size Impact and Quantization Trade-offs</a:t>
            </a:r>
          </a:p>
        </p:txBody>
      </p:sp>
      <p:sp>
        <p:nvSpPr>
          <p:cNvPr id="3" name="Content Placeholder 2"/>
          <p:cNvSpPr>
            <a:spLocks noGrp="1"/>
          </p:cNvSpPr>
          <p:nvPr>
            <p:ph idx="1"/>
          </p:nvPr>
        </p:nvSpPr>
        <p:spPr/>
        <p:txBody>
          <a:bodyPr/>
          <a:lstStyle/>
          <a:p>
            <a:pPr>
              <a:defRPr sz="1800"/>
            </a:pPr>
            <a:r>
              <a:t>Model size directly affects both capability and performance.</a:t>
            </a:r>
          </a:p>
          <a:p>
            <a:pPr>
              <a:defRPr sz="1800"/>
            </a:pPr>
            <a:r>
              <a:t>| Model Size | Parameters | Memory (FP16) | Memory (Q4) | CPU Speed | Quality |</a:t>
            </a:r>
          </a:p>
          <a:p>
            <a:pPr>
              <a:defRPr sz="1800"/>
            </a:pPr>
            <a:r>
              <a:t>| Tiny | 1-3B | 2-6 GB | 1-2 GB | 10-20 tok/s | Basic tasks |</a:t>
            </a:r>
          </a:p>
          <a:p>
            <a:pPr>
              <a:defRPr sz="1800"/>
            </a:pPr>
            <a:r>
              <a:t>| Small | 7-8B | 14-16 GB | 4-5 GB | 3-8 tok/s | General purpose |</a:t>
            </a:r>
          </a:p>
          <a:p>
            <a:pPr>
              <a:defRPr sz="1800"/>
            </a:pPr>
            <a:r>
              <a:t>| Medium | 13-15B | 26-30 GB | 7-9 GB | 1-3 tok/s | Strong performance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Performance Characteristics: Benchmarking</a:t>
            </a:r>
          </a:p>
        </p:txBody>
      </p:sp>
      <p:sp>
        <p:nvSpPr>
          <p:cNvPr id="3" name="Content Placeholder 2"/>
          <p:cNvSpPr>
            <a:spLocks noGrp="1"/>
          </p:cNvSpPr>
          <p:nvPr>
            <p:ph idx="1"/>
          </p:nvPr>
        </p:nvSpPr>
        <p:spPr/>
        <p:txBody>
          <a:bodyPr/>
          <a:lstStyle/>
          <a:p>
            <a:pPr>
              <a:defRPr sz="1800"/>
            </a:pPr>
            <a:r>
              <a:t>Let's measure actual performance for common scenarios.</a:t>
            </a:r>
          </a:p>
          <a:p>
            <a:pPr>
              <a:defRPr sz="1800"/>
            </a:pPr>
            <a:r>
              <a:t>Benchmark 1: Short Prompt Latency</a:t>
            </a:r>
          </a:p>
          <a:p>
            <a:pPr>
              <a:defRPr sz="1800"/>
            </a:pPr>
            <a:r>
              <a:t>def benchmark_latency(model, prompt, n_runs=5):</a:t>
            </a:r>
          </a:p>
          <a:p>
            <a:pPr>
              <a:defRPr sz="1800"/>
            </a:pPr>
            <a:r>
              <a:t>Measure inference latency over multiple runs.</a:t>
            </a:r>
          </a:p>
          <a:p>
            <a:pPr>
              <a:defRPr sz="1800"/>
            </a:pPr>
            <a:r>
              <a:t>Returns mean and standard deviation of latency.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RAG Systems: Bringing It All Together</a:t>
            </a:r>
          </a:p>
        </p:txBody>
      </p:sp>
      <p:sp>
        <p:nvSpPr>
          <p:cNvPr id="3" name="Content Placeholder 2"/>
          <p:cNvSpPr>
            <a:spLocks noGrp="1"/>
          </p:cNvSpPr>
          <p:nvPr>
            <p:ph idx="1"/>
          </p:nvPr>
        </p:nvSpPr>
        <p:spPr/>
        <p:txBody>
          <a:bodyPr/>
          <a:lstStyle/>
          <a:p>
            <a:pPr>
              <a:defRPr sz="2000"/>
            </a:pPr>
            <a:r>
              <a:t>### What is Retrieval-Augmented Generation?</a:t>
            </a:r>
          </a:p>
          <a:p>
            <a:pPr>
              <a:defRPr sz="2000"/>
            </a:pPr>
            <a:r>
              <a:t>Retrieval-Augmented Generation (RAG) addresses a fundamental limitation of language models: they can only generate based on what they learn?</a:t>
            </a:r>
          </a:p>
          <a:p>
            <a:pPr>
              <a:defRPr sz="2000"/>
            </a:pPr>
            <a:r>
              <a:t>RAG systems solve this by combining two components:</a:t>
            </a:r>
          </a:p>
          <a:p>
            <a:pPr>
              <a:defRPr sz="2000"/>
            </a:pPr>
            <a:r>
              <a:t>Retrieval: Search a knowledge base for information relevant to a query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Retrieval-Augmented Generation?</a:t>
            </a:r>
          </a:p>
        </p:txBody>
      </p:sp>
      <p:sp>
        <p:nvSpPr>
          <p:cNvPr id="3" name="Content Placeholder 2"/>
          <p:cNvSpPr>
            <a:spLocks noGrp="1"/>
          </p:cNvSpPr>
          <p:nvPr>
            <p:ph idx="1"/>
          </p:nvPr>
        </p:nvSpPr>
        <p:spPr/>
        <p:txBody>
          <a:bodyPr/>
          <a:lstStyle/>
          <a:p>
            <a:pPr>
              <a:defRPr sz="1800"/>
            </a:pPr>
            <a:r>
              <a:t>Retrieval-Augmented Generation (RAG) addresses a fundamental limitation of language models: they can only generate based on what they learn?</a:t>
            </a:r>
          </a:p>
          <a:p>
            <a:pPr>
              <a:defRPr sz="1800"/>
            </a:pPr>
            <a:r>
              <a:t>RAG systems solve this by combining two components:</a:t>
            </a:r>
          </a:p>
          <a:p>
            <a:pPr>
              <a:defRPr sz="1800"/>
            </a:pPr>
            <a:r>
              <a:t>Retrieval: Search a knowledge base for information relevant to a query</a:t>
            </a:r>
          </a:p>
          <a:p>
            <a:pPr>
              <a:defRPr sz="1800"/>
            </a:pPr>
            <a:r>
              <a:t>Generation: Use an LLM to synthesize an answer grounded in the retrieved information</a:t>
            </a:r>
          </a:p>
          <a:p>
            <a:pPr>
              <a:defRPr sz="1800"/>
            </a:pPr>
            <a:r>
              <a:t>User Query → Retrieval System → Knowledge Base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RAG Matters for Research</a:t>
            </a:r>
          </a:p>
        </p:txBody>
      </p:sp>
      <p:sp>
        <p:nvSpPr>
          <p:cNvPr id="3" name="Content Placeholder 2"/>
          <p:cNvSpPr>
            <a:spLocks noGrp="1"/>
          </p:cNvSpPr>
          <p:nvPr>
            <p:ph idx="1"/>
          </p:nvPr>
        </p:nvSpPr>
        <p:spPr/>
        <p:txBody>
          <a:bodyPr/>
          <a:lstStyle/>
          <a:p>
            <a:pPr>
              <a:defRPr sz="1800"/>
            </a:pPr>
            <a:r>
              <a:t>RAG systems transform how researchers interact with information:</a:t>
            </a:r>
          </a:p>
          <a:p>
            <a:pPr>
              <a:defRPr sz="1800"/>
            </a:pPr>
            <a:r>
              <a:t>Literature Review and Synthesis</a:t>
            </a:r>
          </a:p>
          <a:p>
            <a:pPr>
              <a:defRPr sz="1800"/>
            </a:pPr>
            <a:r>
              <a:t>Manage and query thousands of papers in your domain:</a:t>
            </a:r>
          </a:p>
          <a:p>
            <a:pPr>
              <a:defRPr sz="1800"/>
            </a:pPr>
            <a:r>
              <a:t># Build literature knowledge base</a:t>
            </a:r>
          </a:p>
          <a:p>
            <a:pPr>
              <a:defRPr sz="1800"/>
            </a:pPr>
            <a:r>
              <a:t>papers = load_research_papers("./papers/", format="pdf")</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Local RAG Architecture: Complete System Design</a:t>
            </a:r>
          </a:p>
        </p:txBody>
      </p:sp>
      <p:sp>
        <p:nvSpPr>
          <p:cNvPr id="3" name="Content Placeholder 2"/>
          <p:cNvSpPr>
            <a:spLocks noGrp="1"/>
          </p:cNvSpPr>
          <p:nvPr>
            <p:ph idx="1"/>
          </p:nvPr>
        </p:nvSpPr>
        <p:spPr/>
        <p:txBody>
          <a:bodyPr/>
          <a:lstStyle/>
          <a:p>
            <a:pPr>
              <a:defRPr sz="1800"/>
            </a:pPr>
            <a:r>
              <a:t>Building a production-quality RAG system locally involves several components working together.</a:t>
            </a:r>
          </a:p>
          <a:p>
            <a:pPr>
              <a:defRPr sz="1800"/>
            </a:pPr>
            <a:r>
              <a:t>Component 1: Embedding Model</a:t>
            </a:r>
          </a:p>
          <a:p>
            <a:pPr>
              <a:defRPr sz="1800"/>
            </a:pPr>
            <a:r>
              <a:t>Embeddings convert text into dense vector representations that capture semantic meaning.</a:t>
            </a:r>
          </a:p>
          <a:p>
            <a:pPr>
              <a:defRPr sz="1800"/>
            </a:pPr>
            <a:r>
              <a:t>from sentence_transformers import SentenceTransformer</a:t>
            </a:r>
          </a:p>
          <a:p>
            <a:pPr>
              <a:defRPr sz="1800"/>
            </a:pPr>
            <a:r>
              <a:t># Load embedding model (runs locally, ~200MB)</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 Practical Considerations and Limitations</a:t>
            </a:r>
          </a:p>
        </p:txBody>
      </p:sp>
      <p:sp>
        <p:nvSpPr>
          <p:cNvPr id="3" name="Content Placeholder 2"/>
          <p:cNvSpPr>
            <a:spLocks noGrp="1"/>
          </p:cNvSpPr>
          <p:nvPr>
            <p:ph idx="1"/>
          </p:nvPr>
        </p:nvSpPr>
        <p:spPr/>
        <p:txBody>
          <a:bodyPr/>
          <a:lstStyle/>
          <a:p>
            <a:pPr>
              <a:defRPr sz="2000"/>
            </a:pPr>
            <a:r>
              <a:t>### When NOT to Use Local LLMs</a:t>
            </a:r>
          </a:p>
          <a:p>
            <a:pPr>
              <a:defRPr sz="2000"/>
            </a:pPr>
            <a:r>
              <a:t>Honesty about limitations is crucial for making informed infrastructure decisions.</a:t>
            </a:r>
          </a:p>
          <a:p>
            <a:pPr>
              <a:defRPr sz="2000"/>
            </a:pPr>
            <a:r>
              <a:t>Cutting-Edge Capability Requirements</a:t>
            </a:r>
          </a:p>
          <a:p>
            <a:pPr>
              <a:defRPr sz="2000"/>
            </a:pPr>
            <a:r>
              <a:t>If your research demands state-of-the-art performance on complex tasks (advanced reasoning, multilingual understanding, specialized domains?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When NOT to Use Local LLMs</a:t>
            </a:r>
          </a:p>
        </p:txBody>
      </p:sp>
      <p:sp>
        <p:nvSpPr>
          <p:cNvPr id="3" name="Content Placeholder 2"/>
          <p:cNvSpPr>
            <a:spLocks noGrp="1"/>
          </p:cNvSpPr>
          <p:nvPr>
            <p:ph idx="1"/>
          </p:nvPr>
        </p:nvSpPr>
        <p:spPr/>
        <p:txBody>
          <a:bodyPr/>
          <a:lstStyle/>
          <a:p>
            <a:pPr>
              <a:defRPr sz="1800"/>
            </a:pPr>
            <a:r>
              <a:t>Honesty about limitations is crucial for making informed infrastructure decisions.</a:t>
            </a:r>
          </a:p>
          <a:p>
            <a:pPr>
              <a:defRPr sz="1800"/>
            </a:pPr>
            <a:r>
              <a:t>Cutting-Edge Capability Requirements</a:t>
            </a:r>
          </a:p>
          <a:p>
            <a:pPr>
              <a:defRPr sz="1800"/>
            </a:pPr>
            <a:r>
              <a:t>If your research demands state-of-the-art performance on complex tasks (advanced reasoning, multilingual understanding, specialized domains?</a:t>
            </a:r>
          </a:p>
          <a:p>
            <a:pPr>
              <a:defRPr sz="1800"/>
            </a:pPr>
            <a:r>
              <a:t>Task: Complex multi-step mathematical reasoning</a:t>
            </a:r>
          </a:p>
          <a:p>
            <a:pPr>
              <a:defRPr sz="1800"/>
            </a:pPr>
            <a:r>
              <a:t>GPT-4 / Claude Opus 4.5: ~85% accuracy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Hybrid Architecture Strategies</a:t>
            </a:r>
          </a:p>
        </p:txBody>
      </p:sp>
      <p:sp>
        <p:nvSpPr>
          <p:cNvPr id="3" name="Content Placeholder 2"/>
          <p:cNvSpPr>
            <a:spLocks noGrp="1"/>
          </p:cNvSpPr>
          <p:nvPr>
            <p:ph idx="1"/>
          </p:nvPr>
        </p:nvSpPr>
        <p:spPr/>
        <p:txBody>
          <a:bodyPr/>
          <a:lstStyle/>
          <a:p>
            <a:pPr>
              <a:defRPr sz="1800"/>
            </a:pPr>
            <a:r>
              <a:t>The optimal approach is often hybrid—combining local and cloud infrastructure strategically:</a:t>
            </a:r>
          </a:p>
          <a:p>
            <a:pPr>
              <a:defRPr sz="1800"/>
            </a:pPr>
            <a:r>
              <a:t>Strategy 1: Tiered by Sensitivity</a:t>
            </a:r>
          </a:p>
          <a:p>
            <a:pPr>
              <a:defRPr sz="1800"/>
            </a:pPr>
            <a:r>
              <a:t>def route_by_sensitivity(query: str, data_classification: str):</a:t>
            </a:r>
          </a:p>
          <a:p>
            <a:pPr>
              <a:defRPr sz="1800"/>
            </a:pPr>
            <a:r>
              <a:t>"""Route queries based on data sensitivity."""</a:t>
            </a:r>
          </a:p>
          <a:p>
            <a:pPr>
              <a:defRPr sz="1800"/>
            </a:pPr>
            <a:r>
              <a:t>if data_classification in ["confidential", "restricted", "PII"]: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Hardware Considerations by Use Case</a:t>
            </a:r>
          </a:p>
        </p:txBody>
      </p:sp>
      <p:sp>
        <p:nvSpPr>
          <p:cNvPr id="3" name="Content Placeholder 2"/>
          <p:cNvSpPr>
            <a:spLocks noGrp="1"/>
          </p:cNvSpPr>
          <p:nvPr>
            <p:ph idx="1"/>
          </p:nvPr>
        </p:nvSpPr>
        <p:spPr/>
        <p:txBody>
          <a:bodyPr/>
          <a:lstStyle/>
          <a:p>
            <a:pPr>
              <a:defRPr sz="1800"/>
            </a:pPr>
            <a:r>
              <a:t>Choosing hardware depends on your specific research needs:</a:t>
            </a:r>
          </a:p>
          <a:p>
            <a:pPr>
              <a:defRPr sz="1800"/>
            </a:pPr>
            <a:r>
              <a:t>| Use Case | Hardware Recommendation | Reasoning |</a:t>
            </a:r>
          </a:p>
          <a:p>
            <a:pPr>
              <a:defRPr sz="1800"/>
            </a:pPr>
            <a:r>
              <a:t>| Individual researcher, occasional use | Cloud APIs | Cost-effective, zero maintenance |</a:t>
            </a:r>
          </a:p>
          <a:p>
            <a:pPr>
              <a:defRPr sz="1800"/>
            </a:pPr>
            <a:r>
              <a:t>| PhD student, moderate use | Existing workstation (CPU only) | $0 hardware cost, educational value |</a:t>
            </a:r>
          </a:p>
          <a:p>
            <a:pPr>
              <a:defRPr sz="1800"/>
            </a:pPr>
            <a:r>
              <a:t>| Research group, frequent use | Dedicated workstation with GPU (RTX 4080/4090) | Shared resource, cost-effective at scale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 Integration with Lab Curriculum</a:t>
            </a:r>
          </a:p>
        </p:txBody>
      </p:sp>
      <p:sp>
        <p:nvSpPr>
          <p:cNvPr id="3" name="Content Placeholder 2"/>
          <p:cNvSpPr>
            <a:spLocks noGrp="1"/>
          </p:cNvSpPr>
          <p:nvPr>
            <p:ph idx="1"/>
          </p:nvPr>
        </p:nvSpPr>
        <p:spPr/>
        <p:txBody>
          <a:bodyPr/>
          <a:lstStyle/>
          <a:p>
            <a:pPr>
              <a:defRPr sz="2000"/>
            </a:pPr>
            <a:r>
              <a:t>### Mapping Article Concepts to Notebooks</a:t>
            </a:r>
          </a:p>
          <a:p>
            <a:pPr>
              <a:defRPr sz="2000"/>
            </a:pPr>
            <a:r>
              <a:t>This article provides theoretical foundations and motivation.</a:t>
            </a:r>
          </a:p>
          <a:p>
            <a:pPr>
              <a:defRPr sz="2000"/>
            </a:pPr>
            <a:r>
              <a:t>| Article Section | Related Notebooks | Connection |</a:t>
            </a:r>
          </a:p>
          <a:p>
            <a:pPr>
              <a:defRPr sz="2000"/>
            </a:pPr>
            <a:r>
              <a:t>| Introduction | Notebook 01 | Sets context, introduces Ollama |</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Mapping Article Concepts to Notebooks</a:t>
            </a:r>
          </a:p>
        </p:txBody>
      </p:sp>
      <p:sp>
        <p:nvSpPr>
          <p:cNvPr id="3" name="Content Placeholder 2"/>
          <p:cNvSpPr>
            <a:spLocks noGrp="1"/>
          </p:cNvSpPr>
          <p:nvPr>
            <p:ph idx="1"/>
          </p:nvPr>
        </p:nvSpPr>
        <p:spPr/>
        <p:txBody>
          <a:bodyPr/>
          <a:lstStyle/>
          <a:p>
            <a:pPr>
              <a:defRPr sz="1800"/>
            </a:pPr>
            <a:r>
              <a:t>This article provides theoretical foundations and motivation.</a:t>
            </a:r>
          </a:p>
          <a:p>
            <a:pPr>
              <a:defRPr sz="1800"/>
            </a:pPr>
            <a:r>
              <a:t>| Article Section | Related Notebooks | Connection |</a:t>
            </a:r>
          </a:p>
          <a:p>
            <a:pPr>
              <a:defRPr sz="1800"/>
            </a:pPr>
            <a:r>
              <a:t>| Introduction | Notebook 01 | Sets context, introduces Ollama |</a:t>
            </a:r>
          </a:p>
          <a:p>
            <a:pPr>
              <a:defRPr sz="1800"/>
            </a:pPr>
            <a:r>
              <a:t>| Privacy &amp; Data Control | Notebooks 01, 03 | Local processing ensures privacy; RAG systems handle sensitive knowledge bases |</a:t>
            </a:r>
          </a:p>
          <a:p>
            <a:pPr>
              <a:defRPr sz="1800"/>
            </a:pPr>
            <a:r>
              <a:t>| Cost &amp; Sustainability | Notebook 04 | Performance benchmarking informs cost decisions; local inference eliminates per-token costs |</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Suggested Reading and Lab Order</a:t>
            </a:r>
          </a:p>
        </p:txBody>
      </p:sp>
      <p:sp>
        <p:nvSpPr>
          <p:cNvPr id="3" name="Content Placeholder 2"/>
          <p:cNvSpPr>
            <a:spLocks noGrp="1"/>
          </p:cNvSpPr>
          <p:nvPr>
            <p:ph idx="1"/>
          </p:nvPr>
        </p:nvSpPr>
        <p:spPr/>
        <p:txBody>
          <a:bodyPr/>
          <a:lstStyle/>
          <a:p>
            <a:pPr>
              <a:defRPr sz="1800"/>
            </a:pPr>
            <a:r>
              <a:t>For maximum learning effectiveness, consider this sequence:</a:t>
            </a:r>
          </a:p>
          <a:p>
            <a:pPr>
              <a:defRPr sz="1800"/>
            </a:pPr>
            <a:r>
              <a:t>Phase 1: Foundations (Week 1)</a:t>
            </a:r>
          </a:p>
          <a:p>
            <a:pPr>
              <a:defRPr sz="1800"/>
            </a:pPr>
            <a:r>
              <a:t>Read Article Sections 1-2 (Introduction, Privacy)</a:t>
            </a:r>
          </a:p>
          <a:p>
            <a:pPr>
              <a:defRPr sz="1800"/>
            </a:pPr>
            <a:r>
              <a:t>Complete Notebook 01 (Local LLM Introduction)</a:t>
            </a:r>
          </a:p>
          <a:p>
            <a:pPr>
              <a:defRPr sz="1800"/>
            </a:pPr>
            <a:r>
              <a:t>Reflect: What privacy considerations apply to YOUR research?</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Extended Exercises for Researchers</a:t>
            </a:r>
          </a:p>
        </p:txBody>
      </p:sp>
      <p:sp>
        <p:nvSpPr>
          <p:cNvPr id="3" name="Content Placeholder 2"/>
          <p:cNvSpPr>
            <a:spLocks noGrp="1"/>
          </p:cNvSpPr>
          <p:nvPr>
            <p:ph idx="1"/>
          </p:nvPr>
        </p:nvSpPr>
        <p:spPr/>
        <p:txBody>
          <a:bodyPr/>
          <a:lstStyle/>
          <a:p>
            <a:pPr>
              <a:defRPr sz="1800"/>
            </a:pPr>
            <a:r>
              <a:t>Go beyond the notebooks with these research-oriented exercises:</a:t>
            </a:r>
          </a:p>
          <a:p>
            <a:pPr>
              <a:defRPr sz="1800"/>
            </a:pPr>
            <a:r>
              <a:t>Exercise 1: Privacy Impact Assessment</a:t>
            </a:r>
          </a:p>
          <a:p>
            <a:pPr>
              <a:defRPr sz="1800"/>
            </a:pPr>
            <a:r>
              <a:t>Conduct a formal privacy assessment for your research:</a:t>
            </a:r>
          </a:p>
          <a:p>
            <a:pPr>
              <a:defRPr sz="1800"/>
            </a:pPr>
            <a:r>
              <a:t>Identify all data types in your research pipeline</a:t>
            </a:r>
          </a:p>
          <a:p>
            <a:pPr>
              <a:defRPr sz="1800"/>
            </a:pPr>
            <a:r>
              <a:t>Classify by sensitivity (public, confidential, restricted, PII)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 The Future of Local AI in Research</a:t>
            </a:r>
          </a:p>
        </p:txBody>
      </p:sp>
      <p:sp>
        <p:nvSpPr>
          <p:cNvPr id="3" name="Content Placeholder 2"/>
          <p:cNvSpPr>
            <a:spLocks noGrp="1"/>
          </p:cNvSpPr>
          <p:nvPr>
            <p:ph idx="1"/>
          </p:nvPr>
        </p:nvSpPr>
        <p:spPr/>
        <p:txBody>
          <a:bodyPr/>
          <a:lstStyle/>
          <a:p>
            <a:pPr>
              <a:defRPr sz="2000"/>
            </a:pPr>
            <a:r>
              <a:t>The landscape of local AI is evolving rapidly.</a:t>
            </a:r>
          </a:p>
          <a:p>
            <a:pPr>
              <a:defRPr sz="2000"/>
            </a:pPr>
            <a:r>
              <a:t>Trend 1: Smaller, More Capable Models</a:t>
            </a:r>
          </a:p>
          <a:p>
            <a:pPr>
              <a:defRPr sz="2000"/>
            </a:pPr>
            <a:r>
              <a:t>The efficiency frontier is improving dramatically.</a:t>
            </a:r>
          </a:p>
          <a:p>
            <a:pPr>
              <a:defRPr sz="2000"/>
            </a:pPr>
            <a:r>
              <a:t>Phi family: Microsoft's Phi-3 demonstrates that small models trained on curated, high-quality data can punch above their weight class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Emerging Trends</a:t>
            </a:r>
          </a:p>
        </p:txBody>
      </p:sp>
      <p:sp>
        <p:nvSpPr>
          <p:cNvPr id="3" name="Content Placeholder 2"/>
          <p:cNvSpPr>
            <a:spLocks noGrp="1"/>
          </p:cNvSpPr>
          <p:nvPr>
            <p:ph idx="1"/>
          </p:nvPr>
        </p:nvSpPr>
        <p:spPr/>
        <p:txBody>
          <a:bodyPr/>
          <a:lstStyle/>
          <a:p>
            <a:pPr>
              <a:defRPr sz="1800"/>
            </a:pPr>
            <a:r>
              <a:t>The landscape of local AI is evolving rapidly.</a:t>
            </a:r>
          </a:p>
          <a:p>
            <a:pPr>
              <a:defRPr sz="1800"/>
            </a:pPr>
            <a:r>
              <a:t>Trend 1: Smaller, More Capable Models</a:t>
            </a:r>
          </a:p>
          <a:p>
            <a:pPr>
              <a:defRPr sz="1800"/>
            </a:pPr>
            <a:r>
              <a:t>The efficiency frontier is improving dramatically.</a:t>
            </a:r>
          </a:p>
          <a:p>
            <a:pPr>
              <a:defRPr sz="1800"/>
            </a:pPr>
            <a:r>
              <a:t>Phi family: Microsoft's Phi-3 demonstrates that small models trained on curated, high-quality data can punch above their weight class</a:t>
            </a:r>
          </a:p>
          <a:p>
            <a:pPr>
              <a:defRPr sz="1800"/>
            </a:pPr>
            <a:r>
              <a:t>Distillation advances: Techniques for distilling capabilities from large models to small ones are improving</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Research Opportunities</a:t>
            </a:r>
          </a:p>
        </p:txBody>
      </p:sp>
      <p:sp>
        <p:nvSpPr>
          <p:cNvPr id="3" name="Content Placeholder 2"/>
          <p:cNvSpPr>
            <a:spLocks noGrp="1"/>
          </p:cNvSpPr>
          <p:nvPr>
            <p:ph idx="1"/>
          </p:nvPr>
        </p:nvSpPr>
        <p:spPr/>
        <p:txBody>
          <a:bodyPr/>
          <a:lstStyle/>
          <a:p>
            <a:pPr>
              <a:defRPr sz="1800"/>
            </a:pPr>
            <a:r>
              <a:t>The intersection of local AI and research methodology opens numerous research questions:</a:t>
            </a:r>
          </a:p>
          <a:p>
            <a:pPr>
              <a:defRPr sz="1800"/>
            </a:pPr>
            <a:r>
              <a:t>Research Direction 1: Reproducibility Standards</a:t>
            </a:r>
          </a:p>
          <a:p>
            <a:pPr>
              <a:defRPr sz="1800"/>
            </a:pPr>
            <a:r>
              <a:t>Question: What standards should apply to LLM-based research for publication?</a:t>
            </a:r>
          </a:p>
          <a:p>
            <a:pPr>
              <a:defRPr sz="1800"/>
            </a:pPr>
            <a:r>
              <a:t>Study: Develop and validate reproducibility checklist for LLM experiments</a:t>
            </a:r>
          </a:p>
          <a:p>
            <a:pPr>
              <a:defRPr sz="1800"/>
            </a:pPr>
            <a:r>
              <a:t>Impact: Inform journal policies and review practices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Policy and Ethics Considerations</a:t>
            </a:r>
          </a:p>
        </p:txBody>
      </p:sp>
      <p:sp>
        <p:nvSpPr>
          <p:cNvPr id="3" name="Content Placeholder 2"/>
          <p:cNvSpPr>
            <a:spLocks noGrp="1"/>
          </p:cNvSpPr>
          <p:nvPr>
            <p:ph idx="1"/>
          </p:nvPr>
        </p:nvSpPr>
        <p:spPr/>
        <p:txBody>
          <a:bodyPr/>
          <a:lstStyle/>
          <a:p>
            <a:pPr>
              <a:defRPr sz="1800"/>
            </a:pPr>
            <a:r>
              <a:t>As local AI becomes integral to research, policy and ethical frameworks must evolve:</a:t>
            </a:r>
          </a:p>
          <a:p>
            <a:pPr>
              <a:defRPr sz="1800"/>
            </a:pPr>
            <a:r>
              <a:t>Consideration 1: Data Governance</a:t>
            </a:r>
          </a:p>
          <a:p>
            <a:pPr>
              <a:defRPr sz="1800"/>
            </a:pPr>
            <a:r>
              <a:t>Institutions need clear policies on:</a:t>
            </a:r>
          </a:p>
          <a:p>
            <a:pPr>
              <a:defRPr sz="1800"/>
            </a:pPr>
            <a:r>
              <a:t>When local processing is required vs. permitted vs. prohibited</a:t>
            </a:r>
          </a:p>
          <a:p>
            <a:pPr>
              <a:defRPr sz="1800"/>
            </a:pPr>
            <a:r>
              <a:t>Who is responsible for data protection with local infrastructure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 Conclusion and Key Takeaways</a:t>
            </a:r>
          </a:p>
        </p:txBody>
      </p:sp>
      <p:sp>
        <p:nvSpPr>
          <p:cNvPr id="3" name="Content Placeholder 2"/>
          <p:cNvSpPr>
            <a:spLocks noGrp="1"/>
          </p:cNvSpPr>
          <p:nvPr>
            <p:ph idx="1"/>
          </p:nvPr>
        </p:nvSpPr>
        <p:spPr/>
        <p:txBody>
          <a:bodyPr/>
          <a:lstStyle/>
          <a:p>
            <a:pPr>
              <a:defRPr sz="2000"/>
            </a:pPr>
            <a:r>
              <a:t>### Synthesis: The Four Pillars Revisited</a:t>
            </a:r>
          </a:p>
          <a:p>
            <a:pPr>
              <a:defRPr sz="2000"/>
            </a:pPr>
            <a:r>
              <a:t>We began with four core motivations for incorporating local LLMs into research infrastructure.</a:t>
            </a:r>
          </a:p>
          <a:p>
            <a:pPr>
              <a:defRPr sz="2000"/>
            </a:pPr>
            <a:r>
              <a:t>Privacy and Data Control: Local inference provides an architectural guarantee that sensitive data never leaves your controlled environment.</a:t>
            </a:r>
          </a:p>
          <a:p>
            <a:pPr>
              <a:defRPr sz="2000"/>
            </a:pPr>
            <a:r>
              <a:t>Cost and Sustainability: The economics favor local infrastructure when annual cloud API costs exceed $2,000-3,000.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Synthesis: The Four Pillars Revisited</a:t>
            </a:r>
          </a:p>
        </p:txBody>
      </p:sp>
      <p:sp>
        <p:nvSpPr>
          <p:cNvPr id="3" name="Content Placeholder 2"/>
          <p:cNvSpPr>
            <a:spLocks noGrp="1"/>
          </p:cNvSpPr>
          <p:nvPr>
            <p:ph idx="1"/>
          </p:nvPr>
        </p:nvSpPr>
        <p:spPr/>
        <p:txBody>
          <a:bodyPr/>
          <a:lstStyle/>
          <a:p>
            <a:pPr>
              <a:defRPr sz="1800"/>
            </a:pPr>
            <a:r>
              <a:t>We began with four core motivations for incorporating local LLMs into research infrastructure.</a:t>
            </a:r>
          </a:p>
          <a:p>
            <a:pPr>
              <a:defRPr sz="1800"/>
            </a:pPr>
            <a:r>
              <a:t>Privacy and Data Control: Local inference provides an architectural guarantee that sensitive data never leaves your controlled environment.</a:t>
            </a:r>
          </a:p>
          <a:p>
            <a:pPr>
              <a:defRPr sz="1800"/>
            </a:pPr>
            <a:r>
              <a:t>Cost and Sustainability: The economics favor local infrastructure when annual cloud API costs exceed $2,000-3,000.</a:t>
            </a:r>
          </a:p>
          <a:p>
            <a:pPr>
              <a:defRPr sz="1800"/>
            </a:pPr>
            <a:r>
              <a:t>Research Reproducibility: Cloud model APIs are moving targets—the model behind an endpoint today may differ from the model tomorrow, compro?</a:t>
            </a:r>
          </a:p>
          <a:p>
            <a:pPr>
              <a:defRPr sz="1800"/>
            </a:pPr>
            <a:r>
              <a:t>Latency and Performance: While local CPU inference is slower than cloud APIs or GPU inference, it's sufficient for many research contexts—b?</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Decision Framework Summary</a:t>
            </a:r>
          </a:p>
        </p:txBody>
      </p:sp>
      <p:sp>
        <p:nvSpPr>
          <p:cNvPr id="3" name="Content Placeholder 2"/>
          <p:cNvSpPr>
            <a:spLocks noGrp="1"/>
          </p:cNvSpPr>
          <p:nvPr>
            <p:ph idx="1"/>
          </p:nvPr>
        </p:nvSpPr>
        <p:spPr/>
        <p:txBody>
          <a:bodyPr/>
          <a:lstStyle/>
          <a:p>
            <a:pPr>
              <a:defRPr sz="1800"/>
            </a:pPr>
            <a:r>
              <a:t>When should you invest in local LLM infrastructure?</a:t>
            </a:r>
          </a:p>
          <a:p>
            <a:pPr>
              <a:defRPr sz="1800"/>
            </a:pPr>
            <a:r>
              <a:t>Deploy Local Infrastructure When:</a:t>
            </a:r>
          </a:p>
          <a:p>
            <a:pPr>
              <a:defRPr sz="1800"/>
            </a:pPr>
            <a:r>
              <a:t>✅ Processing sensitive/confidential data subject to privacy regulations or policies</a:t>
            </a:r>
          </a:p>
          <a:p>
            <a:pPr>
              <a:defRPr sz="1800"/>
            </a:pPr>
            <a:r>
              <a:t>✅ Annual projected cloud API costs exceed $2,000-3,000</a:t>
            </a:r>
          </a:p>
          <a:p>
            <a:pPr>
              <a:defRPr sz="1800"/>
            </a:pPr>
            <a:r>
              <a:t>✅ Research requires exact reproducibility (model versioning critical)</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Actionable Next Steps</a:t>
            </a:r>
          </a:p>
        </p:txBody>
      </p:sp>
      <p:sp>
        <p:nvSpPr>
          <p:cNvPr id="3" name="Content Placeholder 2"/>
          <p:cNvSpPr>
            <a:spLocks noGrp="1"/>
          </p:cNvSpPr>
          <p:nvPr>
            <p:ph idx="1"/>
          </p:nvPr>
        </p:nvSpPr>
        <p:spPr/>
        <p:txBody>
          <a:bodyPr/>
          <a:lstStyle/>
          <a:p>
            <a:pPr>
              <a:defRPr sz="1800"/>
            </a:pPr>
            <a:r>
              <a:t>Based on this article and the lab curriculum, here are concrete steps forward:</a:t>
            </a:r>
          </a:p>
          <a:p>
            <a:pPr>
              <a:defRPr sz="1800"/>
            </a:pPr>
            <a:r>
              <a:t>Immediate (This Week):</a:t>
            </a:r>
          </a:p>
          <a:p>
            <a:pPr>
              <a:defRPr sz="1800"/>
            </a:pPr>
            <a:r>
              <a:t>Complete Notebooks 01 and 03 to gain hands-on experience</a:t>
            </a:r>
          </a:p>
          <a:p>
            <a:pPr>
              <a:defRPr sz="1800"/>
            </a:pPr>
            <a:r>
              <a:t>Estimate your current and projected LLM usage patterns</a:t>
            </a:r>
          </a:p>
          <a:p>
            <a:pPr>
              <a:defRPr sz="1800"/>
            </a:pPr>
            <a:r>
              <a:t>Identify any privacy-sensitive use cases in your research</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 Additional Resources</a:t>
            </a:r>
          </a:p>
        </p:txBody>
      </p:sp>
      <p:sp>
        <p:nvSpPr>
          <p:cNvPr id="3" name="Content Placeholder 2"/>
          <p:cNvSpPr>
            <a:spLocks noGrp="1"/>
          </p:cNvSpPr>
          <p:nvPr>
            <p:ph idx="1"/>
          </p:nvPr>
        </p:nvSpPr>
        <p:spPr/>
        <p:txBody>
          <a:bodyPr/>
          <a:lstStyle/>
          <a:p>
            <a:pPr>
              <a:defRPr sz="2000"/>
            </a:pPr>
            <a:r>
              <a:t>On Reproducibility and LLMs:</a:t>
            </a:r>
          </a:p>
          <a:p>
            <a:pPr>
              <a:defRPr sz="2000"/>
            </a:pPr>
            <a:r>
              <a:t>Narayanan, A. &amp; Kapoor, S. (2023). "GPT-4 and ChatGPT Research: Reproducibility, Source Code, and Prompt Engineering." AI Snake Oil Blog.</a:t>
            </a:r>
          </a:p>
          <a:p>
            <a:pPr>
              <a:defRPr sz="2000"/>
            </a:pPr>
            <a:r>
              <a:t>Liang, P., et al. (2022). "Holistic Evaluation of Language Models." Transactions on Machine Learning Research.</a:t>
            </a:r>
          </a:p>
          <a:p>
            <a:pPr>
              <a:defRPr sz="2000"/>
            </a:pPr>
            <a:r>
              <a:t>Dodge, J., et al. (2019). "Show Your Work: Improved Reporting of Experimental Results." EMNLP.</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Further Reading</a:t>
            </a:r>
          </a:p>
        </p:txBody>
      </p:sp>
      <p:sp>
        <p:nvSpPr>
          <p:cNvPr id="3" name="Content Placeholder 2"/>
          <p:cNvSpPr>
            <a:spLocks noGrp="1"/>
          </p:cNvSpPr>
          <p:nvPr>
            <p:ph idx="1"/>
          </p:nvPr>
        </p:nvSpPr>
        <p:spPr/>
        <p:txBody>
          <a:bodyPr/>
          <a:lstStyle/>
          <a:p>
            <a:pPr>
              <a:defRPr sz="1800"/>
            </a:pPr>
            <a:r>
              <a:t>On Reproducibility and LLMs:</a:t>
            </a:r>
          </a:p>
          <a:p>
            <a:pPr>
              <a:defRPr sz="1800"/>
            </a:pPr>
            <a:r>
              <a:t>Narayanan, A. &amp; Kapoor, S. (2023). "GPT-4 and ChatGPT Research: Reproducibility, Source Code, and Prompt Engineering." AI Snake Oil Blog.</a:t>
            </a:r>
          </a:p>
          <a:p>
            <a:pPr>
              <a:defRPr sz="1800"/>
            </a:pPr>
            <a:r>
              <a:t>Liang, P., et al. (2022). "Holistic Evaluation of Language Models." Transactions on Machine Learning Research.</a:t>
            </a:r>
          </a:p>
          <a:p>
            <a:pPr>
              <a:defRPr sz="1800"/>
            </a:pPr>
            <a:r>
              <a:t>Dodge, J., et al. (2019). "Show Your Work: Improved Reporting of Experimental Results." EMNLP.</a:t>
            </a:r>
          </a:p>
          <a:p>
            <a:pPr>
              <a:defRPr sz="1800"/>
            </a:pPr>
            <a:r>
              <a:t>Lewis, P., et al. (2020). "Retrieval-Augmented Generation for Knowledge-Intensive NLP Tasks." NeurIPS. [Foundational RAG paper]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Tools and Platforms</a:t>
            </a:r>
          </a:p>
        </p:txBody>
      </p:sp>
      <p:sp>
        <p:nvSpPr>
          <p:cNvPr id="3" name="Content Placeholder 2"/>
          <p:cNvSpPr>
            <a:spLocks noGrp="1"/>
          </p:cNvSpPr>
          <p:nvPr>
            <p:ph idx="1"/>
          </p:nvPr>
        </p:nvSpPr>
        <p:spPr/>
        <p:txBody>
          <a:bodyPr/>
          <a:lstStyle/>
          <a:p>
            <a:pPr>
              <a:defRPr sz="1800"/>
            </a:pPr>
            <a:r>
              <a:t>LLM Inference Engines:</a:t>
            </a:r>
          </a:p>
          <a:p>
            <a:pPr>
              <a:defRPr sz="1800"/>
            </a:pPr>
            <a:r>
              <a:t>Ollama (https://ollama.com): Primary tool used in this lab—simple, fast, well-documented</a:t>
            </a:r>
          </a:p>
          <a:p>
            <a:pPr>
              <a:defRPr sz="1800"/>
            </a:pPr>
            <a:r>
              <a:t>llama.cpp (https://github.com/ggerganov/llama.cpp): Low-level C++ inference, maximum control</a:t>
            </a:r>
          </a:p>
          <a:p>
            <a:pPr>
              <a:defRPr sz="1800"/>
            </a:pPr>
            <a:r>
              <a:t>vLLM (https://github.com/vllm-project/vllm): High-throughput inference serving, production-scale</a:t>
            </a:r>
          </a:p>
          <a:p>
            <a:pPr>
              <a:defRPr sz="1800"/>
            </a:pPr>
            <a:r>
              <a:t>Text Generation Inference (https://github.com/huggingface/text-generation-inference): HuggingFace's serving solution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Community and Support</a:t>
            </a:r>
          </a:p>
        </p:txBody>
      </p:sp>
      <p:sp>
        <p:nvSpPr>
          <p:cNvPr id="3" name="Content Placeholder 2"/>
          <p:cNvSpPr>
            <a:spLocks noGrp="1"/>
          </p:cNvSpPr>
          <p:nvPr>
            <p:ph idx="1"/>
          </p:nvPr>
        </p:nvSpPr>
        <p:spPr/>
        <p:txBody>
          <a:bodyPr/>
          <a:lstStyle/>
          <a:p>
            <a:pPr>
              <a:defRPr sz="1800"/>
            </a:pPr>
            <a:r>
              <a:t>Forums and Communities:</a:t>
            </a:r>
          </a:p>
          <a:p>
            <a:pPr>
              <a:defRPr sz="1800"/>
            </a:pPr>
            <a:r>
              <a:t>Ollama Discord (https://discord.gg/ollama): Active community for Ollama users</a:t>
            </a:r>
          </a:p>
          <a:p>
            <a:pPr>
              <a:defRPr sz="1800"/>
            </a:pPr>
            <a:r>
              <a:t>LocalLLaMA Reddit (https://www.reddit.com/r/LocalLLaMA/): Community focused on local LLM deployment</a:t>
            </a:r>
          </a:p>
          <a:p>
            <a:pPr>
              <a:defRPr sz="1800"/>
            </a:pPr>
            <a:r>
              <a:t>HuggingFace Forums (https://discuss.huggingface.co): General NLP and LLM discussions</a:t>
            </a:r>
          </a:p>
          <a:p>
            <a:pPr>
              <a:defRPr sz="1800"/>
            </a:pPr>
            <a:r>
              <a:t>LangChain Discord (https://discord.gg/langchain): Framework-specific support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 References</a:t>
            </a:r>
          </a:p>
        </p:txBody>
      </p:sp>
      <p:sp>
        <p:nvSpPr>
          <p:cNvPr id="3" name="Content Placeholder 2"/>
          <p:cNvSpPr>
            <a:spLocks noGrp="1"/>
          </p:cNvSpPr>
          <p:nvPr>
            <p:ph idx="1"/>
          </p:nvPr>
        </p:nvSpPr>
        <p:spPr/>
        <p:txBody>
          <a:bodyPr/>
          <a:lstStyle/>
          <a:p>
            <a:pPr>
              <a:defRPr sz="2000"/>
            </a:pPr>
            <a:r>
              <a:t>### Foundational Papers</a:t>
            </a:r>
          </a:p>
          <a:p>
            <a:pPr>
              <a:defRPr sz="2000"/>
            </a:pPr>
            <a:r>
              <a:t>Vaswani, A., Shazeer, N., Parmar, N., Uszkoreit, J., Jones, L., Gomez, A.</a:t>
            </a:r>
          </a:p>
          <a:p>
            <a:pPr>
              <a:defRPr sz="2000"/>
            </a:pPr>
            <a:r>
              <a:t>B., Mann, B., Ryder, N., Subbiah, M., Kaplan, J., Dhariwal, P., ...</a:t>
            </a:r>
          </a:p>
          <a:p>
            <a:pPr>
              <a:defRPr sz="2000"/>
            </a:pPr>
            <a:r>
              <a:t>Lewis, P., Perez, E., Piktus, A., Petroni, F., Karpukhin, V., Goyal, N., ...</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Foundational Papers</a:t>
            </a:r>
          </a:p>
        </p:txBody>
      </p:sp>
      <p:sp>
        <p:nvSpPr>
          <p:cNvPr id="3" name="Content Placeholder 2"/>
          <p:cNvSpPr>
            <a:spLocks noGrp="1"/>
          </p:cNvSpPr>
          <p:nvPr>
            <p:ph idx="1"/>
          </p:nvPr>
        </p:nvSpPr>
        <p:spPr/>
        <p:txBody>
          <a:bodyPr/>
          <a:lstStyle/>
          <a:p>
            <a:pPr>
              <a:defRPr sz="1800"/>
            </a:pPr>
            <a:r>
              <a:t>Vaswani, A., Shazeer, N., Parmar, N., Uszkoreit, J., Jones, L., Gomez, A.</a:t>
            </a:r>
          </a:p>
          <a:p>
            <a:pPr>
              <a:defRPr sz="1800"/>
            </a:pPr>
            <a:r>
              <a:t>B., Mann, B., Ryder, N., Subbiah, M., Kaplan, J., Dhariwal, P., ...</a:t>
            </a:r>
          </a:p>
          <a:p>
            <a:pPr>
              <a:defRPr sz="1800"/>
            </a:pPr>
            <a:r>
              <a:t>Lewis, P., Perez, E., Piktus, A., Petroni, F., Karpukhin, V., Goyal, N., ...</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Open Model Technical Reports</a:t>
            </a:r>
          </a:p>
        </p:txBody>
      </p:sp>
      <p:sp>
        <p:nvSpPr>
          <p:cNvPr id="3" name="Content Placeholder 2"/>
          <p:cNvSpPr>
            <a:spLocks noGrp="1"/>
          </p:cNvSpPr>
          <p:nvPr>
            <p:ph idx="1"/>
          </p:nvPr>
        </p:nvSpPr>
        <p:spPr/>
        <p:txBody>
          <a:bodyPr/>
          <a:lstStyle/>
          <a:p>
            <a:pPr>
              <a:defRPr sz="1800"/>
            </a:pPr>
            <a:r>
              <a:t>Touvron, H., Lavril, T., Izacard, G., Martinet, X., Lachaux, M.</a:t>
            </a:r>
          </a:p>
          <a:p>
            <a:pPr>
              <a:defRPr sz="1800"/>
            </a:pPr>
            <a:r>
              <a:t>Touvron, H., Martin, L., Stone, K., Albert, P., Almahairi, A., Babaei, Y., ...</a:t>
            </a:r>
          </a:p>
          <a:p>
            <a:pPr>
              <a:defRPr sz="1800"/>
            </a:pPr>
            <a:r>
              <a:t>The LLaMA 3 Herd of Models.</a:t>
            </a:r>
          </a:p>
          <a:p>
            <a:pPr>
              <a:defRPr sz="1800"/>
            </a:pPr>
            <a:r>
              <a:t>Q., Sablayrolles, A., Mensch, A., Bamford, C., Chaplot, D.</a:t>
            </a:r>
          </a:p>
          <a:p>
            <a:pPr>
              <a:defRPr sz="1800"/>
            </a:pPr>
            <a:r>
              <a:t>Abdin, M., Aneja, J., Awadalla, H., Awadalla, H., Awan, 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Quantization and Efficiency</a:t>
            </a:r>
          </a:p>
        </p:txBody>
      </p:sp>
      <p:sp>
        <p:nvSpPr>
          <p:cNvPr id="3" name="Content Placeholder 2"/>
          <p:cNvSpPr>
            <a:spLocks noGrp="1"/>
          </p:cNvSpPr>
          <p:nvPr>
            <p:ph idx="1"/>
          </p:nvPr>
        </p:nvSpPr>
        <p:spPr/>
        <p:txBody>
          <a:bodyPr/>
          <a:lstStyle/>
          <a:p>
            <a:pPr>
              <a:defRPr sz="1800"/>
            </a:pPr>
            <a:r>
              <a:t>Dettmers, T., Lewis, M., Belkada, Y., &amp; Zettlemoyer, L.</a:t>
            </a:r>
          </a:p>
          <a:p>
            <a:pPr>
              <a:defRPr sz="1800"/>
            </a:pPr>
            <a:r>
              <a:t>Frantar, E., Ashkboos, S., Hoefler, T., &amp; Alistarh, D.</a:t>
            </a:r>
          </a:p>
          <a:p>
            <a:pPr>
              <a:defRPr sz="1800"/>
            </a:pPr>
            <a:r>
              <a:t>Xiao, G., Lin, J., Seznec, M., Wu, H., Demouth, J., &amp; Han, S.</a:t>
            </a:r>
          </a:p>
          <a:p>
            <a:pPr>
              <a:defRPr sz="1800"/>
            </a:pPr>
            <a:r>
              <a:t>Dettmers, T., Pagnoni, A., Holtzman, A., &amp; Zettlemoyer, L.</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pPr>
              <a:defRPr sz="2000"/>
            </a:pPr>
            <a:r>
              <a:t>Use local LLMs when privacy, governance, and reproducibility are non-negotiable.</a:t>
            </a:r>
          </a:p>
          <a:p>
            <a:pPr>
              <a:defRPr sz="2000"/>
            </a:pPr>
            <a:r>
              <a:t>Use cloud APIs when peak capability and rapid scaling are the primary goals.</a:t>
            </a:r>
          </a:p>
          <a:p>
            <a:pPr>
              <a:defRPr sz="2000"/>
            </a:pPr>
            <a:r>
              <a:t>Hybrid architectures often provide the best balance for research labs.</a:t>
            </a:r>
          </a:p>
          <a:p>
            <a:pPr>
              <a:defRPr sz="2000"/>
            </a:pPr>
            <a:r>
              <a:t>RAG on local infrastructure enables trustworthy, domain-grounded AI workflows.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